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5" r:id="rId29"/>
    <p:sldId id="287" r:id="rId30"/>
    <p:sldId id="288" r:id="rId31"/>
    <p:sldId id="289" r:id="rId32"/>
    <p:sldId id="290" r:id="rId33"/>
    <p:sldId id="291" r:id="rId34"/>
    <p:sldId id="284" r:id="rId35"/>
    <p:sldId id="292" r:id="rId36"/>
    <p:sldId id="293" r:id="rId37"/>
    <p:sldId id="295" r:id="rId38"/>
    <p:sldId id="296" r:id="rId39"/>
    <p:sldId id="297" r:id="rId40"/>
    <p:sldId id="298" r:id="rId41"/>
    <p:sldId id="299" r:id="rId42"/>
    <p:sldId id="302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E99B1D-B145-40EE-A8A5-E0032F08FF97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FAC1A9-6796-4954-A929-A5790E5BA2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7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FAC1A9-6796-4954-A929-A5790E5BA21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35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90C2A-D876-F537-2A5E-B3F6B7924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06F6B2-6E7B-2519-15D6-D8D7488DB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13284-ABAD-2602-A4C8-70F00A745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515B0-0989-5FAA-EF31-532A6BD88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677BF-44EF-7681-89DF-31D23EA8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046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46A4-9FE8-53E0-35CA-88022413E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82765-9AF5-CA40-129F-C96933F8E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86DDF-B6E1-9BD4-CDA8-1C1516DCD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C468-0F67-A8F9-021D-CFDE180C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ADF0AB-2469-5741-4860-29CD55EF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35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07FC-C14C-083E-8961-08FE69AD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0D5AB-F9A9-0231-2127-C431C8345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5588F-5CE9-5936-F82D-B1B920CBE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8E131-219B-B554-683E-75AB21707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CD24B-E01D-7E2B-7E63-2FE85BEB7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6BF01-EEFA-1189-E521-7CEE1B0D0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8059B-1F41-35DB-724E-3410414F2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26054-B5E1-6FC2-9D45-C72989776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70C3E-6208-05ED-B93B-0A5D0C8F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B3255B-C892-96DA-6B5B-675FB8B8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8A23B-0C16-F17F-EB1B-497E1803C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9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CF15-68D8-8474-6CA5-12A86A27E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F0B48-69A9-9DF2-A670-10ABFB48F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3DAAD-063E-CB72-1331-87A4FE524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146C1-09CE-863F-CF12-8F8DEC275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7EBE4-3409-F904-AFE7-444100B5A2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87CF2C-C8DE-B6A2-7C7D-2B1993505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357CE6-DCDD-D141-DC44-AA6F9901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F80D5F-233D-6073-2C42-48CC9A65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3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399B-4FD6-DC1B-BFEF-52B12A92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D0B9AE-178D-125B-871B-09A75ED40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C4CEF-EA21-6FCE-13F3-044AEF0D7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76214-2AEB-3E19-623A-BC4E94B67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31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123915-108D-6A45-1794-B8A2AC8D6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38087-8D17-83DD-791E-113C7D906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5669F-0E6F-C3F5-FB3A-B97014039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64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B397-58C6-D7E7-8E06-A0D52D035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1297A-8F8A-F658-D10F-4718A067C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607D9-D7B3-2878-C75C-520C0213F2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C61CB-E71F-1135-3378-D07BFAAFF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60BEAC-5D52-8073-BB8F-6B6CBB0B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23C43-6486-4606-692F-8A84D5730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9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CD5E-631C-4BA0-4075-07BC13A75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10194-14B3-3480-9B92-BB7CF99B2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C9EE0-E804-D7DC-7D7D-464FF2FC2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DD45B-3E21-12B7-2C0C-8E52A06C4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0E017-EED9-1045-9F33-60741A8C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04F3F-7CDE-F5E4-6054-9DD5485F5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91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8240-7EC0-28CC-61D0-45FB5452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AAF6CD-891B-8F7B-AF21-70354EC15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83544-E6E5-623D-5DCD-8C83E75B9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CB7FD-E399-B2B1-FD05-2616C4F7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3276F-9347-3E5D-5E5A-B14816D8F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7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12B0A-6E23-2A92-B791-6787C70CC9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9C814D-9648-7CB2-0EF9-12CDBF5E3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DE93A-FE9F-81FA-74CE-7BA4CDBC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0584F-36E5-2CF8-C6AF-C2FC3999F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0BA5-0BC5-95AF-7B04-B897BC7C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1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6A581E-7494-1B33-7E37-5C6CE83F6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DA12-359F-DD6F-534C-000A13FD5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98269-C0FE-0CD2-58EA-4466B16E9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0F9E8-6D9A-4308-A465-32CB2ADEAE51}" type="datetimeFigureOut">
              <a:rPr lang="en-US" smtClean="0"/>
              <a:t>9/24/2022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D0ED2-EC73-1FF8-C0FB-7C59079031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FB950-D078-B3E9-0CC4-A12C3186C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F39AE-EA48-4146-A010-C4DD30F45D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53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18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8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7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24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1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wmf"/><Relationship Id="rId4" Type="http://schemas.openxmlformats.org/officeDocument/2006/relationships/oleObject" Target="../embeddings/oleObject3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wmf"/><Relationship Id="rId4" Type="http://schemas.openxmlformats.org/officeDocument/2006/relationships/oleObject" Target="../embeddings/oleObject37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7" Type="http://schemas.openxmlformats.org/officeDocument/2006/relationships/image" Target="../media/image42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41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6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4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2.wmf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51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oleObject" Target="../embeddings/oleObject53.bin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5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wmf"/><Relationship Id="rId4" Type="http://schemas.openxmlformats.org/officeDocument/2006/relationships/oleObject" Target="../embeddings/oleObject57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.bin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2" Type="http://schemas.openxmlformats.org/officeDocument/2006/relationships/oleObject" Target="../embeddings/oleObject5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0.bin"/><Relationship Id="rId11" Type="http://schemas.openxmlformats.org/officeDocument/2006/relationships/image" Target="../media/image62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62.bin"/><Relationship Id="rId4" Type="http://schemas.openxmlformats.org/officeDocument/2006/relationships/oleObject" Target="../embeddings/oleObject59.bin"/><Relationship Id="rId9" Type="http://schemas.openxmlformats.org/officeDocument/2006/relationships/image" Target="../media/image6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A7A22-351C-4646-9EB8-847247E17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5229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Calculus</a:t>
            </a:r>
            <a:r>
              <a:rPr lang="en-US" sz="4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4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49C4DE-DE4B-4485-A58B-1D929507F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1242" y="5686977"/>
            <a:ext cx="3866323" cy="65191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Zamina Alizada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811988C-3536-42E1-8E91-47F8E8B484A2}"/>
              </a:ext>
            </a:extLst>
          </p:cNvPr>
          <p:cNvSpPr txBox="1">
            <a:spLocks/>
          </p:cNvSpPr>
          <p:nvPr/>
        </p:nvSpPr>
        <p:spPr>
          <a:xfrm>
            <a:off x="4093265" y="3621916"/>
            <a:ext cx="4005470" cy="651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</a:t>
            </a:r>
          </a:p>
        </p:txBody>
      </p:sp>
    </p:spTree>
    <p:extLst>
      <p:ext uri="{BB962C8B-B14F-4D97-AF65-F5344CB8AC3E}">
        <p14:creationId xmlns:p14="http://schemas.microsoft.com/office/powerpoint/2010/main" val="3620142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6197-2CA4-2F13-6DA7-ADA60D592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</a:t>
            </a:r>
          </a:p>
        </p:txBody>
      </p:sp>
    </p:spTree>
    <p:extLst>
      <p:ext uri="{BB962C8B-B14F-4D97-AF65-F5344CB8AC3E}">
        <p14:creationId xmlns:p14="http://schemas.microsoft.com/office/powerpoint/2010/main" val="87179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A32704-EBBC-F187-C8BB-9AC9865D2E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5033963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Functions are a tool for describing the real world in mathematical terms. A function can be represented by an equation, a graph, a numerical table, or a verbal description.</a:t>
                </a:r>
              </a:p>
              <a:p>
                <a:pPr marL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(“y equals f of x”)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notation, the symbol ƒ represents the function, the letter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independent variable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representing the input value of ƒ, and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dependent variable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output value of ƒ at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A32704-EBBC-F187-C8BB-9AC9865D2E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5033963"/>
              </a:xfrm>
              <a:blipFill>
                <a:blip r:embed="rId2"/>
                <a:stretch>
                  <a:fillRect l="-928" t="-1697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402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4FDF33-E811-61C0-0BF5-F26AEC6C38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 and range</a:t>
                </a:r>
              </a:p>
              <a:p>
                <a:pPr marL="0" indent="0" algn="l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ƒ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a set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a set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rule that assigns a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unique</a:t>
                </a:r>
                <a:r>
                  <a:rPr lang="en-US" sz="2400" b="0" i="1" u="none" strike="noStrik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(single) element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each element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set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all possible input values is called the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domain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function. The set of all values of ƒ(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as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varies throughout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called the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range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function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4FDF33-E811-61C0-0BF5-F26AEC6C38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8420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2D15AB-D076-1889-137D-3048C44665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90056"/>
                <a:ext cx="10515600" cy="2122715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we define a function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a formula and the domain is not stated explicitly or restricted by context, the domain is assumed to be the largest set of real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-values for which the formula gives real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-values, the so-called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natural domain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the range of a function is a set of real numbers, the function is said to be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real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valued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2D15AB-D076-1889-137D-3048C44665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90056"/>
                <a:ext cx="10515600" cy="2122715"/>
              </a:xfrm>
              <a:blipFill>
                <a:blip r:embed="rId2"/>
                <a:stretch>
                  <a:fillRect l="-928" t="-4023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6802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F7EACE6-1BAE-DF2F-F25C-8DE35559F4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366594"/>
              </p:ext>
            </p:extLst>
          </p:nvPr>
        </p:nvGraphicFramePr>
        <p:xfrm>
          <a:off x="664028" y="185057"/>
          <a:ext cx="5652861" cy="23025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2444760" imgH="1015920" progId="PBrush">
                  <p:embed/>
                </p:oleObj>
              </mc:Choice>
              <mc:Fallback>
                <p:oleObj name="Bitmap Image" r:id="rId2" imgW="2444760" imgH="10159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4028" y="185057"/>
                        <a:ext cx="5652861" cy="23025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BC469AFC-9743-09F7-ADE2-978595A51B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7344320"/>
              </p:ext>
            </p:extLst>
          </p:nvPr>
        </p:nvGraphicFramePr>
        <p:xfrm>
          <a:off x="5627915" y="2299833"/>
          <a:ext cx="4798332" cy="3872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368440" imgH="1841400" progId="PBrush">
                  <p:embed/>
                </p:oleObj>
              </mc:Choice>
              <mc:Fallback>
                <p:oleObj name="Bitmap Image" r:id="rId4" imgW="2368440" imgH="18414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627915" y="2299833"/>
                        <a:ext cx="4798332" cy="38723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4174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DF22950-5278-3AF3-5B28-00B002CD3C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4363299"/>
              </p:ext>
            </p:extLst>
          </p:nvPr>
        </p:nvGraphicFramePr>
        <p:xfrm>
          <a:off x="1240971" y="533399"/>
          <a:ext cx="10210800" cy="500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86400" imgH="2254320" progId="PBrush">
                  <p:embed/>
                </p:oleObj>
              </mc:Choice>
              <mc:Fallback>
                <p:oleObj name="Bitmap Image" r:id="rId2" imgW="5486400" imgH="22543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40971" y="533399"/>
                        <a:ext cx="10210800" cy="50074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5915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06EFD0-9CD5-FECA-630C-BADEFE9380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858"/>
                <a:ext cx="10515600" cy="230777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Graphs of Functions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ƒ is a function with domain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its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consists of the points in the Cartesian plane whose coordinates are the input-output pairs for ƒ. In set notation, the graph is</a:t>
                </a:r>
              </a:p>
              <a:p>
                <a:pPr marL="0" indent="0" algn="l">
                  <a:buNone/>
                </a:pPr>
                <a:endParaRPr lang="en-US" sz="2400" b="0" i="0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))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06EFD0-9CD5-FECA-630C-BADEFE9380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858"/>
                <a:ext cx="10515600" cy="2307771"/>
              </a:xfrm>
              <a:blipFill>
                <a:blip r:embed="rId2"/>
                <a:stretch>
                  <a:fillRect l="-1217" t="-4762" r="-116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E27301A1-CB77-B237-8837-5B5171023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664919"/>
              </p:ext>
            </p:extLst>
          </p:nvPr>
        </p:nvGraphicFramePr>
        <p:xfrm>
          <a:off x="228600" y="2340428"/>
          <a:ext cx="4517571" cy="4234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432160" imgH="2216160" progId="PBrush">
                  <p:embed/>
                </p:oleObj>
              </mc:Choice>
              <mc:Fallback>
                <p:oleObj name="Bitmap Image" r:id="rId3" imgW="2432160" imgH="22161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8600" y="2340428"/>
                        <a:ext cx="4517571" cy="4234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CA0719E-12AD-26FF-66C4-DFF27FD528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974024"/>
              </p:ext>
            </p:extLst>
          </p:nvPr>
        </p:nvGraphicFramePr>
        <p:xfrm>
          <a:off x="7728857" y="1368538"/>
          <a:ext cx="4332514" cy="5442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400480" imgH="3174840" progId="PBrush">
                  <p:embed/>
                </p:oleObj>
              </mc:Choice>
              <mc:Fallback>
                <p:oleObj name="Bitmap Image" r:id="rId5" imgW="2400480" imgH="31748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28857" y="1368538"/>
                        <a:ext cx="4332514" cy="5442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704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1376441-2CCC-2664-F7FD-9173B829CC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430601"/>
              </p:ext>
            </p:extLst>
          </p:nvPr>
        </p:nvGraphicFramePr>
        <p:xfrm>
          <a:off x="838200" y="598714"/>
          <a:ext cx="8207829" cy="4898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241880" imgH="241200" progId="PBrush">
                  <p:embed/>
                </p:oleObj>
              </mc:Choice>
              <mc:Fallback>
                <p:oleObj name="Bitmap Image" r:id="rId2" imgW="4241880" imgH="241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598714"/>
                        <a:ext cx="8207829" cy="4898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D3FAE28-97E8-CAAC-0F27-C57C4800B2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137268"/>
              </p:ext>
            </p:extLst>
          </p:nvPr>
        </p:nvGraphicFramePr>
        <p:xfrm>
          <a:off x="838200" y="1679348"/>
          <a:ext cx="3877129" cy="4764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158920" imgH="2451240" progId="PBrush">
                  <p:embed/>
                </p:oleObj>
              </mc:Choice>
              <mc:Fallback>
                <p:oleObj name="Bitmap Image" r:id="rId4" imgW="2158920" imgH="2451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1679348"/>
                        <a:ext cx="3877129" cy="47649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0055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872EB-A19B-0CA4-66F0-43678C262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972"/>
            <a:ext cx="10515600" cy="23839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Representing a Function Numerically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Another way to represent a function is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numerically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through a table of values. Numerical representations are often used by engineers and scientists. The graph consisting of only the points in the table is called a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scatterplot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83331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C5EB3-CED0-E3A8-C4F7-5B6702371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0450" y="131986"/>
            <a:ext cx="5866493" cy="2698299"/>
          </a:xfrm>
        </p:spPr>
        <p:txBody>
          <a:bodyPr/>
          <a:lstStyle/>
          <a:p>
            <a:pPr marL="0" indent="0" algn="l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3</a:t>
            </a:r>
          </a:p>
          <a:p>
            <a:pPr marL="0" indent="0" algn="l">
              <a:buNone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Musical notes are pressure waves in the air. The data in Table 1.1 give recorded pressure displacement versus time in seconds of a musical note produced by a tuning fork. The table provides a representation of the pressure function over time. If we first make a scatterplot and then connect approximately the data points (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from the table, we obtain the graph shown in Figure 1.6.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A708121-778F-769B-CDB1-E10940486D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0054716"/>
              </p:ext>
            </p:extLst>
          </p:nvPr>
        </p:nvGraphicFramePr>
        <p:xfrm>
          <a:off x="0" y="626608"/>
          <a:ext cx="6140450" cy="5910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289320" imgH="3352680" progId="PBrush">
                  <p:embed/>
                </p:oleObj>
              </mc:Choice>
              <mc:Fallback>
                <p:oleObj name="Bitmap Image" r:id="rId2" imgW="3289320" imgH="3352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0" y="626608"/>
                        <a:ext cx="6140450" cy="5910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669EA41-71C7-1C0A-4828-23ED91DEB5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286438"/>
              </p:ext>
            </p:extLst>
          </p:nvPr>
        </p:nvGraphicFramePr>
        <p:xfrm>
          <a:off x="6140450" y="2651350"/>
          <a:ext cx="5235121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565360" imgH="1924200" progId="PBrush">
                  <p:embed/>
                </p:oleObj>
              </mc:Choice>
              <mc:Fallback>
                <p:oleObj name="Bitmap Image" r:id="rId4" imgW="2565360" imgH="1924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40450" y="2651350"/>
                        <a:ext cx="5235121" cy="388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0279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D2179-153E-9E0E-1E51-75EA52BE5D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02771"/>
                <a:ext cx="10515600" cy="170905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Vertical Line Test for a Function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every curve in the coordinate plane can be the graph of a function. A function ƒ can have only one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 for each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its domain, so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vertical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 can intersect the graph of a function more than once.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AD2179-153E-9E0E-1E51-75EA52BE5D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02771"/>
                <a:ext cx="10515600" cy="1709058"/>
              </a:xfrm>
              <a:blipFill>
                <a:blip r:embed="rId2"/>
                <a:stretch>
                  <a:fillRect l="-928" t="-5000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2E02AC5-EA51-2766-D1A4-190E635ED7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2815304"/>
              </p:ext>
            </p:extLst>
          </p:nvPr>
        </p:nvGraphicFramePr>
        <p:xfrm>
          <a:off x="1083129" y="2019527"/>
          <a:ext cx="8801100" cy="4609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6076800" imgH="2946240" progId="PBrush">
                  <p:embed/>
                </p:oleObj>
              </mc:Choice>
              <mc:Fallback>
                <p:oleObj name="Bitmap Image" r:id="rId3" imgW="6076800" imgH="2946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3129" y="2019527"/>
                        <a:ext cx="8801100" cy="4609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404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210C8E-2BDF-B3CA-50AA-3DC2E94E4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1886" y="566057"/>
                <a:ext cx="5617028" cy="33636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Piecewise-Defined Functions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Sometimes a function is described by using different formulas on different parts of its domain. One example is the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absolute value function</a:t>
                </a:r>
              </a:p>
              <a:p>
                <a:pPr marL="0" indent="0" algn="l">
                  <a:buNone/>
                </a:pPr>
                <a:endParaRPr lang="en-US" sz="2400" b="1" i="0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4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≤0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210C8E-2BDF-B3CA-50AA-3DC2E94E4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1886" y="566057"/>
                <a:ext cx="5617028" cy="3363686"/>
              </a:xfrm>
              <a:blipFill>
                <a:blip r:embed="rId2"/>
                <a:stretch>
                  <a:fillRect l="-1627" t="-2536" r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D33C410-C8F3-47CD-CB6E-580C4D2206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661055"/>
              </p:ext>
            </p:extLst>
          </p:nvPr>
        </p:nvGraphicFramePr>
        <p:xfrm>
          <a:off x="7703457" y="2024738"/>
          <a:ext cx="3519037" cy="4659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000160" imgH="2317680" progId="PBrush">
                  <p:embed/>
                </p:oleObj>
              </mc:Choice>
              <mc:Fallback>
                <p:oleObj name="Bitmap Image" r:id="rId3" imgW="2000160" imgH="2317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03457" y="2024738"/>
                        <a:ext cx="3519037" cy="465908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546B13B-69E0-9863-5C42-A925E726DB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25504"/>
              </p:ext>
            </p:extLst>
          </p:nvPr>
        </p:nvGraphicFramePr>
        <p:xfrm>
          <a:off x="7620000" y="174625"/>
          <a:ext cx="3701143" cy="177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070000" imgH="1041480" progId="PBrush">
                  <p:embed/>
                </p:oleObj>
              </mc:Choice>
              <mc:Fallback>
                <p:oleObj name="Bitmap Image" r:id="rId5" imgW="2070000" imgH="10414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20000" y="174625"/>
                        <a:ext cx="3701143" cy="177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914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64DDF57-2D42-1A72-EED0-57BD4141F6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645529"/>
              </p:ext>
            </p:extLst>
          </p:nvPr>
        </p:nvGraphicFramePr>
        <p:xfrm>
          <a:off x="762002" y="707571"/>
          <a:ext cx="10047513" cy="2525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273720" imgH="1390680" progId="PBrush">
                  <p:embed/>
                </p:oleObj>
              </mc:Choice>
              <mc:Fallback>
                <p:oleObj name="Bitmap Image" r:id="rId2" imgW="6273720" imgH="1390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2" y="707571"/>
                        <a:ext cx="10047513" cy="2525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F72C228-5EA4-4F79-0FFE-8D9B5F99B1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1698214"/>
              </p:ext>
            </p:extLst>
          </p:nvPr>
        </p:nvGraphicFramePr>
        <p:xfrm>
          <a:off x="762002" y="4125686"/>
          <a:ext cx="10406743" cy="13062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6369120" imgH="654120" progId="PBrush">
                  <p:embed/>
                </p:oleObj>
              </mc:Choice>
              <mc:Fallback>
                <p:oleObj name="Bitmap Image" r:id="rId4" imgW="6369120" imgH="654120" progId="PBrush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19E2247-039F-CDB6-BD3E-39FEB7F60B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2002" y="4125686"/>
                        <a:ext cx="10406743" cy="13062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176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5B87F-0F68-8656-4EC5-282880153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4" y="1371600"/>
            <a:ext cx="10515600" cy="642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and Decreasing Functions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D75D776-656C-E07F-21E4-59E9046173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49062"/>
              </p:ext>
            </p:extLst>
          </p:nvPr>
        </p:nvGraphicFramePr>
        <p:xfrm>
          <a:off x="751114" y="2198914"/>
          <a:ext cx="9851572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35640" imgH="1092240" progId="PBrush">
                  <p:embed/>
                </p:oleObj>
              </mc:Choice>
              <mc:Fallback>
                <p:oleObj name="Bitmap Image" r:id="rId2" imgW="5435640" imgH="1092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1114" y="2198914"/>
                        <a:ext cx="9851572" cy="2057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5358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1828F-9542-A45B-F9FE-329EF1920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819"/>
            <a:ext cx="10515600" cy="609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Functions and Odd Functions: Symmetry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3B9B6A-F8C1-534C-4764-72AB249353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2860613"/>
              </p:ext>
            </p:extLst>
          </p:nvPr>
        </p:nvGraphicFramePr>
        <p:xfrm>
          <a:off x="838200" y="870176"/>
          <a:ext cx="7924801" cy="209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044960" imgH="1136520" progId="PBrush">
                  <p:embed/>
                </p:oleObj>
              </mc:Choice>
              <mc:Fallback>
                <p:oleObj name="Bitmap Image" r:id="rId2" imgW="4044960" imgH="11365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870176"/>
                        <a:ext cx="7924801" cy="2090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110E47-67CC-2F38-CFF1-0D0CEECD113C}"/>
              </a:ext>
            </a:extLst>
          </p:cNvPr>
          <p:cNvSpPr txBox="1">
            <a:spLocks/>
          </p:cNvSpPr>
          <p:nvPr/>
        </p:nvSpPr>
        <p:spPr>
          <a:xfrm>
            <a:off x="838200" y="3178629"/>
            <a:ext cx="10515600" cy="8164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of an even function is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about the </a:t>
            </a:r>
            <a:r>
              <a:rPr lang="en-US" sz="24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-axis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graph of an odd function is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about the origin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D90EBB8-9DAF-8C7E-D821-F0CF99E444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9197008"/>
              </p:ext>
            </p:extLst>
          </p:nvPr>
        </p:nvGraphicFramePr>
        <p:xfrm>
          <a:off x="838200" y="4212772"/>
          <a:ext cx="3124200" cy="2340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1886040" imgH="1130400" progId="PBrush">
                  <p:embed/>
                </p:oleObj>
              </mc:Choice>
              <mc:Fallback>
                <p:oleObj name="Bitmap Image" r:id="rId4" imgW="1886040" imgH="11304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4212772"/>
                        <a:ext cx="3124200" cy="2340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11CB2B1-68D3-C2EA-86A4-7DCEBC684E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390301"/>
              </p:ext>
            </p:extLst>
          </p:nvPr>
        </p:nvGraphicFramePr>
        <p:xfrm>
          <a:off x="6292849" y="4212772"/>
          <a:ext cx="3711121" cy="254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070000" imgH="1409760" progId="PBrush">
                  <p:embed/>
                </p:oleObj>
              </mc:Choice>
              <mc:Fallback>
                <p:oleObj name="Bitmap Image" r:id="rId6" imgW="2070000" imgH="1409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92849" y="4212772"/>
                        <a:ext cx="3711121" cy="25472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8141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9F75C44-9B0E-7A74-B0A4-83F76D2ABD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305587"/>
              </p:ext>
            </p:extLst>
          </p:nvPr>
        </p:nvGraphicFramePr>
        <p:xfrm>
          <a:off x="250371" y="195943"/>
          <a:ext cx="8807450" cy="3615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880240" imgH="2095560" progId="PBrush">
                  <p:embed/>
                </p:oleObj>
              </mc:Choice>
              <mc:Fallback>
                <p:oleObj name="Bitmap Image" r:id="rId2" imgW="5880240" imgH="2095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0371" y="195943"/>
                        <a:ext cx="8807450" cy="3615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AA1E379-6431-9374-4046-A4BB65D9E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598532"/>
              </p:ext>
            </p:extLst>
          </p:nvPr>
        </p:nvGraphicFramePr>
        <p:xfrm>
          <a:off x="3013075" y="3811135"/>
          <a:ext cx="6479268" cy="2850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3575160" imgH="1854360" progId="PBrush">
                  <p:embed/>
                </p:oleObj>
              </mc:Choice>
              <mc:Fallback>
                <p:oleObj name="Bitmap Image" r:id="rId4" imgW="3575160" imgH="18543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13075" y="3811135"/>
                        <a:ext cx="6479268" cy="2850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868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B3D7-570C-FA31-9C38-196D54FE2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177800"/>
            <a:ext cx="10515600" cy="845457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CA9D2-7843-3862-960B-1308357D29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2486"/>
                <a:ext cx="10515600" cy="479447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Functions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function of the form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constants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is called a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linear function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called the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identity function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sz="2400" b="0" i="0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DEFINITION: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variables </a:t>
                </a:r>
                <a:r>
                  <a:rPr lang="en-US" sz="2400" b="0" i="1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b="0" i="1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</a:t>
                </a:r>
                <a:r>
                  <a:rPr lang="en-US" sz="2400" b="1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proportional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(to one another) if one is always a constant multiple of the other; that is, if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𝑘𝑥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some nonzero constant </a:t>
                </a:r>
                <a:r>
                  <a:rPr lang="en-US" sz="2400" b="0" i="1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variable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proportional to the reciprocal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sometimes it is said that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inversely proportional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8CA9D2-7843-3862-960B-1308357D29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2486"/>
                <a:ext cx="10515600" cy="4794477"/>
              </a:xfrm>
              <a:blipFill>
                <a:blip r:embed="rId2"/>
                <a:stretch>
                  <a:fillRect l="-928" t="-178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89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CD0F-FF50-F55D-A6F9-9B0E67A53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91"/>
            <a:ext cx="10515600" cy="76698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2D0B5-6A64-BB69-6FDA-DBE29194B2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799" y="927779"/>
                <a:ext cx="4757058" cy="2307885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Functions</a:t>
                </a:r>
              </a:p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solidFill>
                      <a:srgbClr val="FF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:r>
                  <a:rPr lang="en-US" sz="2400" b="0" i="1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constant, is called a </a:t>
                </a:r>
                <a:r>
                  <a:rPr lang="en-US" sz="2400" b="1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function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22D0B5-6A64-BB69-6FDA-DBE29194B2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799" y="927779"/>
                <a:ext cx="4757058" cy="2307885"/>
              </a:xfrm>
              <a:blipFill>
                <a:blip r:embed="rId2"/>
                <a:stretch>
                  <a:fillRect l="-1923" t="-3694" r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559BD36-C0FD-F3CA-FC26-5BAAC5A9F4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027730"/>
              </p:ext>
            </p:extLst>
          </p:nvPr>
        </p:nvGraphicFramePr>
        <p:xfrm>
          <a:off x="740457" y="3687650"/>
          <a:ext cx="7815714" cy="3074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305240" imgH="1415880" progId="PBrush">
                  <p:embed/>
                </p:oleObj>
              </mc:Choice>
              <mc:Fallback>
                <p:oleObj name="Bitmap Image" r:id="rId3" imgW="4305240" imgH="14158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40457" y="3687650"/>
                        <a:ext cx="7815714" cy="3074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1933991-EBFB-6688-2CA9-9C7A82A1F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995548"/>
              </p:ext>
            </p:extLst>
          </p:nvPr>
        </p:nvGraphicFramePr>
        <p:xfrm>
          <a:off x="5143500" y="-119742"/>
          <a:ext cx="6825342" cy="36223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3981600" imgH="2089080" progId="PBrush">
                  <p:embed/>
                </p:oleObj>
              </mc:Choice>
              <mc:Fallback>
                <p:oleObj name="Bitmap Image" r:id="rId5" imgW="3981600" imgH="20890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3500" y="-119742"/>
                        <a:ext cx="6825342" cy="36223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75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38DF97E-1F3F-7599-93D4-724940A9DE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972003"/>
              </p:ext>
            </p:extLst>
          </p:nvPr>
        </p:nvGraphicFramePr>
        <p:xfrm>
          <a:off x="435428" y="185057"/>
          <a:ext cx="6302829" cy="3113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09880" imgH="1530360" progId="PBrush">
                  <p:embed/>
                </p:oleObj>
              </mc:Choice>
              <mc:Fallback>
                <p:oleObj name="Bitmap Image" r:id="rId2" imgW="3809880" imgH="15303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5428" y="185057"/>
                        <a:ext cx="6302829" cy="31133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8D4FC9F-9215-40EB-18B9-AB5A8C08BB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885423"/>
              </p:ext>
            </p:extLst>
          </p:nvPr>
        </p:nvGraphicFramePr>
        <p:xfrm>
          <a:off x="4827813" y="3298372"/>
          <a:ext cx="5851073" cy="3374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3276720" imgH="1714680" progId="PBrush">
                  <p:embed/>
                </p:oleObj>
              </mc:Choice>
              <mc:Fallback>
                <p:oleObj name="Bitmap Image" r:id="rId4" imgW="3276720" imgH="1714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27813" y="3298372"/>
                        <a:ext cx="5851073" cy="3374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8134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A1ED2-68E3-E2A3-2FF6-C0CDA53937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1"/>
                <a:ext cx="10515600" cy="22860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Polynomials</a:t>
                </a:r>
              </a:p>
              <a:p>
                <a:pPr marL="0" indent="0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function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polynomial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∙∙∙+</m:t>
                    </m:r>
                    <m:sSub>
                      <m:sSub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nonnegative integer and the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∙∙∙,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real constants (called the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coefficients 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polynomial).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BA1ED2-68E3-E2A3-2FF6-C0CDA5393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1"/>
                <a:ext cx="10515600" cy="2286000"/>
              </a:xfrm>
              <a:blipFill>
                <a:blip r:embed="rId2"/>
                <a:stretch>
                  <a:fillRect l="-928" t="-3733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0F48ECB3-7E2E-4D3B-A463-8A2EFA50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91"/>
            <a:ext cx="10515600" cy="76698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410EEE-16EE-63A5-300F-B4C782D4EB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014303"/>
              </p:ext>
            </p:extLst>
          </p:nvPr>
        </p:nvGraphicFramePr>
        <p:xfrm>
          <a:off x="1104899" y="3429000"/>
          <a:ext cx="8224157" cy="33419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4343400" imgH="1758960" progId="PBrush">
                  <p:embed/>
                </p:oleObj>
              </mc:Choice>
              <mc:Fallback>
                <p:oleObj name="Bitmap Image" r:id="rId3" imgW="4343400" imgH="17589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4899" y="3429000"/>
                        <a:ext cx="8224157" cy="33419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61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8B909-F038-6ED4-742C-93A242CA40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2482"/>
                <a:ext cx="10515600" cy="114617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Rational Functions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rational function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quotient or ratio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polynomials.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28B909-F038-6ED4-742C-93A242CA40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2482"/>
                <a:ext cx="10515600" cy="1146175"/>
              </a:xfrm>
              <a:blipFill>
                <a:blip r:embed="rId2"/>
                <a:stretch>
                  <a:fillRect l="-928" t="-13298" b="-54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6AB0773D-B040-7CA2-40C5-79A63B83F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91"/>
            <a:ext cx="10515600" cy="76698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73E1F00-2277-2E09-BDDB-E89079D0C4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3899204"/>
              </p:ext>
            </p:extLst>
          </p:nvPr>
        </p:nvGraphicFramePr>
        <p:xfrm>
          <a:off x="1006927" y="2394857"/>
          <a:ext cx="10346873" cy="4136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562720" imgH="2228760" progId="PBrush">
                  <p:embed/>
                </p:oleObj>
              </mc:Choice>
              <mc:Fallback>
                <p:oleObj name="Bitmap Image" r:id="rId3" imgW="5562720" imgH="2228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6927" y="2394857"/>
                        <a:ext cx="10346873" cy="4136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533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A53FF-ED0A-08EE-80E3-D510601E7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7167"/>
            <a:ext cx="10515600" cy="5315403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Functions 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function constructed from polynomials using algebraic operations (addition, subtraction, multiplication, division, and taking roots) lies within the class of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algebraic functions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Trigonometric Functions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7BB3352-7282-E962-E6BE-A0C39CDEB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91"/>
            <a:ext cx="10515600" cy="76698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66D9431-EE14-9EED-E7A9-ABB85A76AC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334914"/>
              </p:ext>
            </p:extLst>
          </p:nvPr>
        </p:nvGraphicFramePr>
        <p:xfrm>
          <a:off x="1197431" y="3614056"/>
          <a:ext cx="9481456" cy="2702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064040" imgH="1066680" progId="PBrush">
                  <p:embed/>
                </p:oleObj>
              </mc:Choice>
              <mc:Fallback>
                <p:oleObj name="Bitmap Image" r:id="rId2" imgW="4064040" imgH="1066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97431" y="3614056"/>
                        <a:ext cx="9481456" cy="2702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874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B20A8-11B7-4453-7965-CF517FEAA3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10343"/>
                <a:ext cx="10515600" cy="1426028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Exponential Functions 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Functions of the form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p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the base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positive constant and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≠1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are called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exponential functions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CB20A8-11B7-4453-7965-CF517FEAA3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10343"/>
                <a:ext cx="10515600" cy="1426028"/>
              </a:xfrm>
              <a:blipFill>
                <a:blip r:embed="rId2"/>
                <a:stretch>
                  <a:fillRect l="-928" t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250A5196-E982-5ABB-E552-47592749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91"/>
            <a:ext cx="10515600" cy="76698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74C7B46-CEDC-0CE1-4E20-5440E8C14D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688365"/>
              </p:ext>
            </p:extLst>
          </p:nvPr>
        </p:nvGraphicFramePr>
        <p:xfrm>
          <a:off x="1948543" y="2547937"/>
          <a:ext cx="7663543" cy="3950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670200" imgH="1758960" progId="PBrush">
                  <p:embed/>
                </p:oleObj>
              </mc:Choice>
              <mc:Fallback>
                <p:oleObj name="Bitmap Image" r:id="rId3" imgW="3670200" imgH="17589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48543" y="2547937"/>
                        <a:ext cx="7663543" cy="39508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081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D979F-FF11-E2A7-6EC9-EBA7DCC21D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87210"/>
                <a:ext cx="10515600" cy="1505404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Logarithmic Functions 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These are the functions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24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0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2400" b="0" i="1" u="none" strike="noStrike" baseline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sub>
                        </m:sSub>
                      </m:fName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the base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≠1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positive constant. They are the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inverse functions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exponential functions.</a:t>
                </a: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D979F-FF11-E2A7-6EC9-EBA7DCC21D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87210"/>
                <a:ext cx="10515600" cy="1505404"/>
              </a:xfrm>
              <a:blipFill>
                <a:blip r:embed="rId2"/>
                <a:stretch>
                  <a:fillRect l="-928" t="-5668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>
            <a:extLst>
              <a:ext uri="{FF2B5EF4-FFF2-40B4-BE49-F238E27FC236}">
                <a16:creationId xmlns:a16="http://schemas.microsoft.com/office/drawing/2014/main" id="{5688A266-F611-8FC3-8AA4-6CA552692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91"/>
            <a:ext cx="10515600" cy="76698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2BE3D87-09B1-9D2F-C8E9-50DD71F72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6317549"/>
              </p:ext>
            </p:extLst>
          </p:nvPr>
        </p:nvGraphicFramePr>
        <p:xfrm>
          <a:off x="1121229" y="2557463"/>
          <a:ext cx="4071257" cy="41365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1968480" imgH="1714680" progId="PBrush">
                  <p:embed/>
                </p:oleObj>
              </mc:Choice>
              <mc:Fallback>
                <p:oleObj name="Bitmap Image" r:id="rId3" imgW="1968480" imgH="1714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1229" y="2557463"/>
                        <a:ext cx="4071257" cy="41365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378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52BCD-5D93-7675-9971-24DB8EDC2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853"/>
            <a:ext cx="10515600" cy="17557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Transcendental Functions </a:t>
            </a:r>
          </a:p>
          <a:p>
            <a:pPr marL="0" indent="0" algn="l">
              <a:buNone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functions that are not algebraic. They include the trigonometric, inverse trigonometric, exponential, and logarithmic functions, and many other functions as well. A particular example of a transcendental function is a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catenary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7640807-5FFA-9C7B-F9F4-52F30336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791"/>
            <a:ext cx="10515600" cy="766989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Functions</a:t>
            </a:r>
            <a:endParaRPr lang="en-US" sz="3200" dirty="0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5FC3D48-A856-5B8A-51BD-510CC5B4277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664011"/>
              </p:ext>
            </p:extLst>
          </p:nvPr>
        </p:nvGraphicFramePr>
        <p:xfrm>
          <a:off x="1023257" y="2612571"/>
          <a:ext cx="3770086" cy="408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879560" imgH="2260440" progId="PBrush">
                  <p:embed/>
                </p:oleObj>
              </mc:Choice>
              <mc:Fallback>
                <p:oleObj name="Bitmap Image" r:id="rId2" imgW="1879560" imgH="22604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23257" y="2612571"/>
                        <a:ext cx="3770086" cy="408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763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DAD3-3CD0-CE83-52DD-E4B0E918F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841" y="174171"/>
            <a:ext cx="10515600" cy="843188"/>
          </a:xfrm>
        </p:spPr>
        <p:txBody>
          <a:bodyPr>
            <a:normAutofit/>
          </a:bodyPr>
          <a:lstStyle/>
          <a:p>
            <a:r>
              <a:rPr lang="en-US" sz="32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Functions; Shifting and Scaling Graphs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4BA930-D03E-5F11-F205-B4BFE186E3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371" y="1262742"/>
                <a:ext cx="11549743" cy="542108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Sums, Differences, Products, and Quotients</a:t>
                </a:r>
              </a:p>
              <a:p>
                <a:pPr marL="0" indent="0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ƒ and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functions, then for every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belongs to the domains of both ƒ and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(that is, for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)∩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), we define functions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 the formulas</a:t>
                </a:r>
              </a:p>
              <a:p>
                <a:pPr marL="0" indent="0">
                  <a:buNone/>
                </a:pPr>
                <a:endParaRPr lang="en-US" sz="2400" b="0" i="0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0" i="0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b="0" i="0" u="none" strike="noStrike" baseline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any point of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)∩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𝑔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at which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latin typeface="Cambria Math" panose="02040503050406030204" pitchFamily="18" charset="0"/>
                      </a:rPr>
                      <m:t>)≠0,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 can also define the function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by the formula</a:t>
                </a: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 real number, then the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defined for all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domain of ƒ by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4BA930-D03E-5F11-F205-B4BFE186E3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371" y="1262742"/>
                <a:ext cx="11549743" cy="5421087"/>
              </a:xfrm>
              <a:blipFill>
                <a:blip r:embed="rId2"/>
                <a:stretch>
                  <a:fillRect l="-792" t="-2250" r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E3651A9-E182-7F8E-46C8-0157DF4337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220318"/>
              </p:ext>
            </p:extLst>
          </p:nvPr>
        </p:nvGraphicFramePr>
        <p:xfrm>
          <a:off x="4000272" y="2441348"/>
          <a:ext cx="3679825" cy="1531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082960" imgH="819000" progId="PBrush">
                  <p:embed/>
                </p:oleObj>
              </mc:Choice>
              <mc:Fallback>
                <p:oleObj name="Bitmap Image" r:id="rId3" imgW="2082960" imgH="8190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00272" y="2441348"/>
                        <a:ext cx="3679825" cy="1531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E7A87A4C-AC57-5656-DB1C-57A615E277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593861"/>
              </p:ext>
            </p:extLst>
          </p:nvPr>
        </p:nvGraphicFramePr>
        <p:xfrm>
          <a:off x="2939140" y="4556126"/>
          <a:ext cx="4626429" cy="1039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832120" imgH="527040" progId="PBrush">
                  <p:embed/>
                </p:oleObj>
              </mc:Choice>
              <mc:Fallback>
                <p:oleObj name="Bitmap Image" r:id="rId5" imgW="2832120" imgH="5270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39140" y="4556126"/>
                        <a:ext cx="4626429" cy="10391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952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0822E97-925F-D7A5-BCC0-E35F5AA4FA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3727302"/>
              </p:ext>
            </p:extLst>
          </p:nvPr>
        </p:nvGraphicFramePr>
        <p:xfrm>
          <a:off x="478971" y="174173"/>
          <a:ext cx="10929257" cy="251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229440" imgH="1384200" progId="PBrush">
                  <p:embed/>
                </p:oleObj>
              </mc:Choice>
              <mc:Fallback>
                <p:oleObj name="Bitmap Image" r:id="rId2" imgW="6229440" imgH="1384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971" y="174173"/>
                        <a:ext cx="10929257" cy="2519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FDED04C-7228-3932-3738-6DD3D871FA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6125019"/>
              </p:ext>
            </p:extLst>
          </p:nvPr>
        </p:nvGraphicFramePr>
        <p:xfrm>
          <a:off x="609600" y="2579914"/>
          <a:ext cx="9394372" cy="4180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6058080" imgH="2413080" progId="PBrush">
                  <p:embed/>
                </p:oleObj>
              </mc:Choice>
              <mc:Fallback>
                <p:oleObj name="Bitmap Image" r:id="rId4" imgW="6058080" imgH="24130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0" y="2579914"/>
                        <a:ext cx="9394372" cy="4180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753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2AF9-6711-BF60-377F-7AB13228B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1486" y="1055914"/>
            <a:ext cx="10515600" cy="7075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Composite Functions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5DE1A3F-5AEB-9F2C-5AC1-210EA0D538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076998"/>
              </p:ext>
            </p:extLst>
          </p:nvPr>
        </p:nvGraphicFramePr>
        <p:xfrm>
          <a:off x="1469571" y="2048896"/>
          <a:ext cx="9742715" cy="2481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632560" imgH="1378080" progId="PBrush">
                  <p:embed/>
                </p:oleObj>
              </mc:Choice>
              <mc:Fallback>
                <p:oleObj name="Bitmap Image" r:id="rId2" imgW="5632560" imgH="13780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69571" y="2048896"/>
                        <a:ext cx="9742715" cy="2481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89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87140FC-D644-9624-8578-616EBDFBAE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968442"/>
              </p:ext>
            </p:extLst>
          </p:nvPr>
        </p:nvGraphicFramePr>
        <p:xfrm>
          <a:off x="348342" y="156935"/>
          <a:ext cx="5747658" cy="2820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321000" imgH="1486080" progId="PBrush">
                  <p:embed/>
                </p:oleObj>
              </mc:Choice>
              <mc:Fallback>
                <p:oleObj name="Bitmap Image" r:id="rId2" imgW="3321000" imgH="14860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8342" y="156935"/>
                        <a:ext cx="5747658" cy="2820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9CA3FE34-8391-E32C-A369-0C13E7F249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7271657"/>
              </p:ext>
            </p:extLst>
          </p:nvPr>
        </p:nvGraphicFramePr>
        <p:xfrm>
          <a:off x="6797677" y="696686"/>
          <a:ext cx="5045981" cy="4953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901960" imgH="2527200" progId="PBrush">
                  <p:embed/>
                </p:oleObj>
              </mc:Choice>
              <mc:Fallback>
                <p:oleObj name="Bitmap Image" r:id="rId4" imgW="2901960" imgH="25272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97677" y="696686"/>
                        <a:ext cx="5045981" cy="49534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295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C51C57D-D801-EE0E-6C59-4DE33F9493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578737"/>
              </p:ext>
            </p:extLst>
          </p:nvPr>
        </p:nvGraphicFramePr>
        <p:xfrm>
          <a:off x="593272" y="1924276"/>
          <a:ext cx="10776857" cy="1317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283360" imgH="628560" progId="PBrush">
                  <p:embed/>
                </p:oleObj>
              </mc:Choice>
              <mc:Fallback>
                <p:oleObj name="Bitmap Image" r:id="rId2" imgW="5283360" imgH="628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93272" y="1924276"/>
                        <a:ext cx="10776857" cy="1317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26376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BE807-359C-BACF-4C8C-DD5DF5C17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257" y="653142"/>
            <a:ext cx="10515600" cy="6531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Shifting a Graph of a Function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089128D3-5199-1DAA-1382-A82AFFBC7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2143614"/>
              </p:ext>
            </p:extLst>
          </p:nvPr>
        </p:nvGraphicFramePr>
        <p:xfrm>
          <a:off x="2068286" y="1850571"/>
          <a:ext cx="7783285" cy="382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816360" imgH="1733400" progId="PBrush">
                  <p:embed/>
                </p:oleObj>
              </mc:Choice>
              <mc:Fallback>
                <p:oleObj name="Bitmap Image" r:id="rId2" imgW="3816360" imgH="17334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68286" y="1850571"/>
                        <a:ext cx="7783285" cy="3826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39106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19F7AFD-847F-5374-6165-56B69C8677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552442"/>
              </p:ext>
            </p:extLst>
          </p:nvPr>
        </p:nvGraphicFramePr>
        <p:xfrm>
          <a:off x="478973" y="783773"/>
          <a:ext cx="3777342" cy="464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886040" imgH="2425680" progId="PBrush">
                  <p:embed/>
                </p:oleObj>
              </mc:Choice>
              <mc:Fallback>
                <p:oleObj name="Bitmap Image" r:id="rId2" imgW="1886040" imgH="24256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8973" y="783773"/>
                        <a:ext cx="3777342" cy="4640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63EEF24-6E92-1EB3-1ACE-5581788189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55561"/>
              </p:ext>
            </p:extLst>
          </p:nvPr>
        </p:nvGraphicFramePr>
        <p:xfrm>
          <a:off x="5945866" y="304800"/>
          <a:ext cx="5767161" cy="3276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825640" imgH="1504800" progId="PBrush">
                  <p:embed/>
                </p:oleObj>
              </mc:Choice>
              <mc:Fallback>
                <p:oleObj name="Bitmap Image" r:id="rId4" imgW="2825640" imgH="15048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45866" y="304800"/>
                        <a:ext cx="5767161" cy="3276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0F6F3E5-7F15-2539-81B7-65CB483B3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987337"/>
              </p:ext>
            </p:extLst>
          </p:nvPr>
        </p:nvGraphicFramePr>
        <p:xfrm>
          <a:off x="6977744" y="4074206"/>
          <a:ext cx="4060370" cy="2699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082960" imgH="1308240" progId="PBrush">
                  <p:embed/>
                </p:oleObj>
              </mc:Choice>
              <mc:Fallback>
                <p:oleObj name="Bitmap Image" r:id="rId6" imgW="2082960" imgH="1308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977744" y="4074206"/>
                        <a:ext cx="4060370" cy="26996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158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097DBC-D8A9-F6F2-44AE-88051FDD38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2142" y="310243"/>
                <a:ext cx="11843657" cy="6237513"/>
              </a:xfrm>
            </p:spPr>
            <p:txBody>
              <a:bodyPr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Scaling and Reflecting a Graph of a Function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scale the graph of a function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to stretch or compress it, vertically or horizontally. This is accomplished by multiplying the function ƒ, or the independent variable </a:t>
                </a:r>
                <a:r>
                  <a:rPr lang="en-US" sz="2400" b="0" i="1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0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by an appropriate constant </a:t>
                </a:r>
                <a:r>
                  <a:rPr lang="en-US" sz="2400" b="0" i="1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b="0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Reflections across the coordinate axes are special cases where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=−1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:endPara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Vertical and Horizontal Scaling and Reflecting Formulas</a:t>
                </a:r>
              </a:p>
              <a:p>
                <a:pPr marL="0" indent="0" algn="l"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sz="24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graph is scaled: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Stretches the graph of ƒ vertically by a factor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Compresses the graph of ƒ vertically by a factor of </a:t>
                </a:r>
                <a:r>
                  <a:rPr lang="en-US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Compresses the graph of ƒ horizontally by a factor of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US" sz="24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2400" b="0" i="1" u="none" strike="noStrike" baseline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den>
                        </m:f>
                      </m:e>
                    </m:d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Stretches the graph of ƒ horizontally by a factor of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 algn="l">
                  <a:buNone/>
                </a:pP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b="1" i="1" u="none" strike="noStrike" baseline="0" smtClean="0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2400" b="1" i="1" u="none" strike="noStrike" baseline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1" i="1" u="none" strike="noStrike" baseline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2400" b="1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graph is reflected:</a:t>
                </a:r>
              </a:p>
              <a:p>
                <a:pPr marL="0" indent="0" algn="l">
                  <a:buNone/>
                </a:pP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Reflects the graph of ƒ across the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-axis.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u="none" strike="noStrike" baseline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Reflects the graph of ƒ across the </a:t>
                </a:r>
                <a:r>
                  <a:rPr lang="en-US" sz="2400" b="0" i="1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en-US" sz="2400" b="0" i="0" u="none" strike="noStrike" baseline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-axis.</a:t>
                </a:r>
              </a:p>
              <a:p>
                <a:pPr marL="0" indent="0" algn="l">
                  <a:buNone/>
                </a:pPr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097DBC-D8A9-F6F2-44AE-88051FDD38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2142" y="310243"/>
                <a:ext cx="11843657" cy="6237513"/>
              </a:xfrm>
              <a:blipFill>
                <a:blip r:embed="rId2"/>
                <a:stretch>
                  <a:fillRect l="-824" t="-1369" r="-1081" b="-2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589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CB51D36-6669-7CD6-15F7-6C97BC8AB3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860726"/>
              </p:ext>
            </p:extLst>
          </p:nvPr>
        </p:nvGraphicFramePr>
        <p:xfrm>
          <a:off x="522515" y="359229"/>
          <a:ext cx="7013575" cy="489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968640" imgH="235080" progId="PBrush">
                  <p:embed/>
                </p:oleObj>
              </mc:Choice>
              <mc:Fallback>
                <p:oleObj name="Bitmap Image" r:id="rId3" imgW="3968640" imgH="2350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2515" y="359229"/>
                        <a:ext cx="7013575" cy="489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781DB0B-1EDB-ED00-AD86-C276699153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011707"/>
              </p:ext>
            </p:extLst>
          </p:nvPr>
        </p:nvGraphicFramePr>
        <p:xfrm>
          <a:off x="221796" y="1338943"/>
          <a:ext cx="3609976" cy="4016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190600" imgH="2235240" progId="PBrush">
                  <p:embed/>
                </p:oleObj>
              </mc:Choice>
              <mc:Fallback>
                <p:oleObj name="Bitmap Image" r:id="rId5" imgW="2190600" imgH="2235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1796" y="1338943"/>
                        <a:ext cx="3609976" cy="40168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2D4E376-944E-70C0-3FD0-4E3EF1A91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3171141"/>
              </p:ext>
            </p:extLst>
          </p:nvPr>
        </p:nvGraphicFramePr>
        <p:xfrm>
          <a:off x="4017737" y="1447800"/>
          <a:ext cx="4026805" cy="390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2540160" imgH="2228760" progId="PBrush">
                  <p:embed/>
                </p:oleObj>
              </mc:Choice>
              <mc:Fallback>
                <p:oleObj name="Bitmap Image" r:id="rId7" imgW="2540160" imgH="2228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17737" y="1447800"/>
                        <a:ext cx="4026805" cy="3907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BC879DA-5736-8D72-A22D-92CA16783A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835877"/>
              </p:ext>
            </p:extLst>
          </p:nvPr>
        </p:nvGraphicFramePr>
        <p:xfrm>
          <a:off x="8360229" y="1447800"/>
          <a:ext cx="3494314" cy="4027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2222640" imgH="2235240" progId="PBrush">
                  <p:embed/>
                </p:oleObj>
              </mc:Choice>
              <mc:Fallback>
                <p:oleObj name="Bitmap Image" r:id="rId9" imgW="2222640" imgH="2235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360229" y="1447800"/>
                        <a:ext cx="3494314" cy="40277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6388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81D0F01-49B4-7ED7-8209-6D122674D0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983606"/>
              </p:ext>
            </p:extLst>
          </p:nvPr>
        </p:nvGraphicFramePr>
        <p:xfrm>
          <a:off x="903514" y="283029"/>
          <a:ext cx="9427029" cy="2329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346720" imgH="1079640" progId="PBrush">
                  <p:embed/>
                </p:oleObj>
              </mc:Choice>
              <mc:Fallback>
                <p:oleObj name="Bitmap Image" r:id="rId2" imgW="5346720" imgH="10796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03514" y="283029"/>
                        <a:ext cx="9427029" cy="23295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E972B41-0D3E-E655-5DD0-DC1E3109EA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7071614"/>
              </p:ext>
            </p:extLst>
          </p:nvPr>
        </p:nvGraphicFramePr>
        <p:xfrm>
          <a:off x="304800" y="2850469"/>
          <a:ext cx="11713029" cy="3539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6724800" imgH="1828800" progId="PBrush">
                  <p:embed/>
                </p:oleObj>
              </mc:Choice>
              <mc:Fallback>
                <p:oleObj name="Bitmap Image" r:id="rId4" imgW="6724800" imgH="18288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2850469"/>
                        <a:ext cx="11713029" cy="3539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7242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C372C-B58D-647A-DF94-305FA8427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057" y="1292225"/>
            <a:ext cx="10515600" cy="6345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One-to-One Functions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8C29AF3-AFA9-519B-F379-9C6425DDDD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791247"/>
              </p:ext>
            </p:extLst>
          </p:nvPr>
        </p:nvGraphicFramePr>
        <p:xfrm>
          <a:off x="838200" y="2242458"/>
          <a:ext cx="9808029" cy="10885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03960" imgH="520560" progId="PBrush">
                  <p:embed/>
                </p:oleObj>
              </mc:Choice>
              <mc:Fallback>
                <p:oleObj name="Bitmap Image" r:id="rId2" imgW="5403960" imgH="520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2242458"/>
                        <a:ext cx="9808029" cy="10885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3198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3167199-CF9B-1F38-42BB-F72BE2727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7641579"/>
              </p:ext>
            </p:extLst>
          </p:nvPr>
        </p:nvGraphicFramePr>
        <p:xfrm>
          <a:off x="522514" y="435428"/>
          <a:ext cx="10929257" cy="1504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48240" imgH="660240" progId="PBrush">
                  <p:embed/>
                </p:oleObj>
              </mc:Choice>
              <mc:Fallback>
                <p:oleObj name="Bitmap Image" r:id="rId2" imgW="5448240" imgH="66024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22514" y="435428"/>
                        <a:ext cx="10929257" cy="15042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04FF8BC-978C-6D7F-D299-652F6CE29F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0323274"/>
              </p:ext>
            </p:extLst>
          </p:nvPr>
        </p:nvGraphicFramePr>
        <p:xfrm>
          <a:off x="446314" y="2460171"/>
          <a:ext cx="5410200" cy="35160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2692440" imgH="1619280" progId="PBrush">
                  <p:embed/>
                </p:oleObj>
              </mc:Choice>
              <mc:Fallback>
                <p:oleObj name="Bitmap Image" r:id="rId4" imgW="2692440" imgH="161928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6314" y="2460171"/>
                        <a:ext cx="5410200" cy="35160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1C1924B-FBA7-E368-E9CF-F2DC11693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18207"/>
              </p:ext>
            </p:extLst>
          </p:nvPr>
        </p:nvGraphicFramePr>
        <p:xfrm>
          <a:off x="6400803" y="1698170"/>
          <a:ext cx="5268683" cy="4147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2622600" imgH="2025720" progId="PBrush">
                  <p:embed/>
                </p:oleObj>
              </mc:Choice>
              <mc:Fallback>
                <p:oleObj name="Bitmap Image" r:id="rId6" imgW="2622600" imgH="20257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400803" y="1698170"/>
                        <a:ext cx="5268683" cy="4147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202904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AA55F-AD4D-370F-11A3-727E72F26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1739"/>
            <a:ext cx="10515600" cy="547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Functions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F03C874-D015-1C56-B7CC-1665998D0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968534"/>
              </p:ext>
            </p:extLst>
          </p:nvPr>
        </p:nvGraphicFramePr>
        <p:xfrm>
          <a:off x="838200" y="1589314"/>
          <a:ext cx="10101943" cy="2166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581800" imgH="1085760" progId="PBrush">
                  <p:embed/>
                </p:oleObj>
              </mc:Choice>
              <mc:Fallback>
                <p:oleObj name="Bitmap Image" r:id="rId2" imgW="5581800" imgH="1085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8200" y="1589314"/>
                        <a:ext cx="10101943" cy="2166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67463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1521F5F-9BBA-976C-AF1B-838330F6B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698991"/>
              </p:ext>
            </p:extLst>
          </p:nvPr>
        </p:nvGraphicFramePr>
        <p:xfrm>
          <a:off x="947057" y="478971"/>
          <a:ext cx="10297886" cy="1883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765760" imgH="952560" progId="PBrush">
                  <p:embed/>
                </p:oleObj>
              </mc:Choice>
              <mc:Fallback>
                <p:oleObj name="Bitmap Image" r:id="rId2" imgW="5765760" imgH="952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7057" y="478971"/>
                        <a:ext cx="10297886" cy="1883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CF92C745-CC6C-278F-3B2A-CB22420815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624768"/>
              </p:ext>
            </p:extLst>
          </p:nvPr>
        </p:nvGraphicFramePr>
        <p:xfrm>
          <a:off x="1382713" y="3429000"/>
          <a:ext cx="9862230" cy="136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781520" imgH="628560" progId="PBrush">
                  <p:embed/>
                </p:oleObj>
              </mc:Choice>
              <mc:Fallback>
                <p:oleObj name="Bitmap Image" r:id="rId4" imgW="4781520" imgH="6285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82713" y="3429000"/>
                        <a:ext cx="9862230" cy="1360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24477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79E92-B9EE-60C6-7DB5-6349D65C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8" y="715282"/>
            <a:ext cx="10515600" cy="84137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Composing a function and its inverse has the same effect as doing nothing.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99882D6-7E2B-44D6-FB2E-866E88A26A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8837813"/>
              </p:ext>
            </p:extLst>
          </p:nvPr>
        </p:nvGraphicFramePr>
        <p:xfrm>
          <a:off x="957943" y="1887538"/>
          <a:ext cx="6319157" cy="6923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429000" imgH="336600" progId="PBrush">
                  <p:embed/>
                </p:oleObj>
              </mc:Choice>
              <mc:Fallback>
                <p:oleObj name="Bitmap Image" r:id="rId2" imgW="3429000" imgH="3366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57943" y="1887538"/>
                        <a:ext cx="6319157" cy="6923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F77FA56-46B2-BD52-C5B7-577E5A8FA4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618139"/>
              </p:ext>
            </p:extLst>
          </p:nvPr>
        </p:nvGraphicFramePr>
        <p:xfrm>
          <a:off x="881742" y="3265487"/>
          <a:ext cx="9187543" cy="69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4552920" imgH="324000" progId="PBrush">
                  <p:embed/>
                </p:oleObj>
              </mc:Choice>
              <mc:Fallback>
                <p:oleObj name="Bitmap Image" r:id="rId4" imgW="4552920" imgH="3240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1742" y="3265487"/>
                        <a:ext cx="9187543" cy="692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278742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6213FC9B-71CC-E579-E260-FC9FA0AC5C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2549377"/>
              </p:ext>
            </p:extLst>
          </p:nvPr>
        </p:nvGraphicFramePr>
        <p:xfrm>
          <a:off x="821871" y="631372"/>
          <a:ext cx="10548257" cy="62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73800" imgH="266760" progId="PBrush">
                  <p:embed/>
                </p:oleObj>
              </mc:Choice>
              <mc:Fallback>
                <p:oleObj name="Bitmap Image" r:id="rId2" imgW="5473800" imgH="26676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21871" y="631372"/>
                        <a:ext cx="10548257" cy="6204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B78FD7D-2D4E-34D4-6161-55ABEF1E16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569522"/>
              </p:ext>
            </p:extLst>
          </p:nvPr>
        </p:nvGraphicFramePr>
        <p:xfrm>
          <a:off x="244928" y="1673340"/>
          <a:ext cx="11125200" cy="94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4" imgW="6006960" imgH="444600" progId="PBrush">
                  <p:embed/>
                </p:oleObj>
              </mc:Choice>
              <mc:Fallback>
                <p:oleObj name="Bitmap Image" r:id="rId4" imgW="6006960" imgH="44460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928" y="1673340"/>
                        <a:ext cx="11125200" cy="94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9EA3EDD-78E2-0781-9A7A-9DD9FA4B9C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030345"/>
              </p:ext>
            </p:extLst>
          </p:nvPr>
        </p:nvGraphicFramePr>
        <p:xfrm>
          <a:off x="244928" y="3037117"/>
          <a:ext cx="11283043" cy="9422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6" imgW="6013440" imgH="425520" progId="PBrush">
                  <p:embed/>
                </p:oleObj>
              </mc:Choice>
              <mc:Fallback>
                <p:oleObj name="Bitmap Image" r:id="rId6" imgW="6013440" imgH="4255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44928" y="3037117"/>
                        <a:ext cx="11283043" cy="9422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E07C951-1E84-45B6-EB2E-641ECEBF83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3141370"/>
              </p:ext>
            </p:extLst>
          </p:nvPr>
        </p:nvGraphicFramePr>
        <p:xfrm>
          <a:off x="821871" y="4371297"/>
          <a:ext cx="9960429" cy="621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8" imgW="5283360" imgH="317520" progId="PBrush">
                  <p:embed/>
                </p:oleObj>
              </mc:Choice>
              <mc:Fallback>
                <p:oleObj name="Bitmap Image" r:id="rId8" imgW="5283360" imgH="317520" progId="PBrus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1871" y="4371297"/>
                        <a:ext cx="9960429" cy="621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0FE7760B-D5B5-3A61-A934-4C6E764463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162312"/>
              </p:ext>
            </p:extLst>
          </p:nvPr>
        </p:nvGraphicFramePr>
        <p:xfrm>
          <a:off x="821871" y="5486400"/>
          <a:ext cx="10395857" cy="999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10" imgW="6039000" imgH="457200" progId="PBrush">
                  <p:embed/>
                </p:oleObj>
              </mc:Choice>
              <mc:Fallback>
                <p:oleObj name="Bitmap Image" r:id="rId10" imgW="6039000" imgH="457200" progId="PBrush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0968211B-3EC6-F0C3-1034-13B19A607A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821871" y="5486400"/>
                        <a:ext cx="10395857" cy="9998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76133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1229</Words>
  <Application>Microsoft Office PowerPoint</Application>
  <PresentationFormat>Widescreen</PresentationFormat>
  <Paragraphs>92</Paragraphs>
  <Slides>42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Times New Roman</vt:lpstr>
      <vt:lpstr>Office Theme</vt:lpstr>
      <vt:lpstr>Bitmap Image</vt:lpstr>
      <vt:lpstr>Calculus  </vt:lpstr>
      <vt:lpstr>Functions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Functions</vt:lpstr>
      <vt:lpstr>Common Functions</vt:lpstr>
      <vt:lpstr>PowerPoint Presentation</vt:lpstr>
      <vt:lpstr>Common Functions</vt:lpstr>
      <vt:lpstr>Common Functions</vt:lpstr>
      <vt:lpstr>Common Functions</vt:lpstr>
      <vt:lpstr>Common Functions</vt:lpstr>
      <vt:lpstr>Common Functions</vt:lpstr>
      <vt:lpstr>Common Functions</vt:lpstr>
      <vt:lpstr>Combining Functions; Shifting and Scaling Graphs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Calculus 1 </dc:title>
  <dc:creator>Zamina Alizada</dc:creator>
  <cp:lastModifiedBy>Zamina Alizada</cp:lastModifiedBy>
  <cp:revision>9</cp:revision>
  <dcterms:created xsi:type="dcterms:W3CDTF">2022-09-01T04:57:00Z</dcterms:created>
  <dcterms:modified xsi:type="dcterms:W3CDTF">2022-09-24T08:45:18Z</dcterms:modified>
</cp:coreProperties>
</file>