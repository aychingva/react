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5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3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9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8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7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0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5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4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944E2-7EEB-4DD9-B133-72E5AA2ED64B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51D0B-1C54-4B63-80AD-100A8762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5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4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8229600" cy="685800"/>
          </a:xfrm>
        </p:spPr>
        <p:txBody>
          <a:bodyPr/>
          <a:lstStyle/>
          <a:p>
            <a:pPr algn="ctr"/>
            <a:r>
              <a:rPr lang="en-US" altLang="en-US" sz="4000" b="1" dirty="0">
                <a:solidFill>
                  <a:srgbClr val="C00000"/>
                </a:solidFill>
              </a:rPr>
              <a:t>Planes in 3D Space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066800"/>
            <a:ext cx="9144000" cy="5791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Consider the plane containing the point  </a:t>
            </a:r>
          </a:p>
          <a:p>
            <a:pPr>
              <a:buFontTx/>
              <a:buNone/>
            </a:pPr>
            <a:r>
              <a:rPr lang="en-US" altLang="en-US" dirty="0" smtClean="0"/>
              <a:t>and </a:t>
            </a:r>
            <a:r>
              <a:rPr lang="en-US" altLang="en-US" u="sng" dirty="0"/>
              <a:t>normal</a:t>
            </a:r>
            <a:r>
              <a:rPr lang="en-US" altLang="en-US" dirty="0"/>
              <a:t> </a:t>
            </a:r>
            <a:r>
              <a:rPr lang="en-US" altLang="en-US" u="sng" dirty="0"/>
              <a:t>vector</a:t>
            </a:r>
            <a:r>
              <a:rPr lang="en-US" altLang="en-US" dirty="0"/>
              <a:t> </a:t>
            </a:r>
            <a:r>
              <a:rPr lang="en-US" altLang="en-US" b="1" i="1" dirty="0"/>
              <a:t>n </a:t>
            </a:r>
            <a:r>
              <a:rPr lang="en-US" altLang="en-US" b="1" dirty="0"/>
              <a:t>= &lt; </a:t>
            </a:r>
            <a:r>
              <a:rPr lang="en-US" altLang="en-US" i="1" dirty="0">
                <a:latin typeface="Times New Roman" panose="02020603050405020304" pitchFamily="18" charset="0"/>
              </a:rPr>
              <a:t>a, b, c</a:t>
            </a:r>
            <a:r>
              <a:rPr lang="en-US" altLang="en-US" i="1" dirty="0"/>
              <a:t> </a:t>
            </a:r>
            <a:r>
              <a:rPr lang="en-US" altLang="en-US" dirty="0"/>
              <a:t>&gt; </a:t>
            </a:r>
            <a:r>
              <a:rPr lang="en-US" altLang="en-US" dirty="0" smtClean="0"/>
              <a:t>  perpendicular </a:t>
            </a:r>
            <a:r>
              <a:rPr lang="en-US" altLang="en-US" dirty="0"/>
              <a:t>to the plane.</a:t>
            </a:r>
          </a:p>
        </p:txBody>
      </p:sp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16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251313"/>
              </p:ext>
            </p:extLst>
          </p:nvPr>
        </p:nvGraphicFramePr>
        <p:xfrm>
          <a:off x="7652657" y="1066800"/>
          <a:ext cx="2514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3" imgW="1002865" imgH="228501" progId="Equation.3">
                  <p:embed/>
                </p:oleObj>
              </mc:Choice>
              <mc:Fallback>
                <p:oleObj name="Equation" r:id="rId3" imgW="100286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2657" y="1066800"/>
                        <a:ext cx="25146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308" y="2119538"/>
            <a:ext cx="4023406" cy="473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1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37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0" y="0"/>
                <a:ext cx="9144000" cy="6858000"/>
              </a:xfrm>
            </p:spPr>
            <p:txBody>
              <a:bodyPr/>
              <a:lstStyle/>
              <a:p>
                <a:pPr>
                  <a:buFontTx/>
                  <a:buNone/>
                </a:pPr>
                <a:r>
                  <a:rPr lang="en-US" altLang="en-US" dirty="0" smtClean="0"/>
                  <a:t>The plane consists of all points </a:t>
                </a:r>
                <a:r>
                  <a:rPr lang="en-US" altLang="en-US" i="1" dirty="0">
                    <a:latin typeface="Times New Roman" panose="02020603050405020304" pitchFamily="18" charset="0"/>
                  </a:rPr>
                  <a:t>P</a:t>
                </a:r>
                <a:r>
                  <a:rPr lang="en-US" altLang="en-US" i="1" dirty="0" smtClean="0"/>
                  <a:t> </a:t>
                </a:r>
                <a:r>
                  <a:rPr lang="en-US" altLang="en-US" dirty="0"/>
                  <a:t>= (</a:t>
                </a:r>
                <a:r>
                  <a:rPr lang="en-US" altLang="en-US" i="1" dirty="0">
                    <a:latin typeface="Times New Roman" panose="02020603050405020304" pitchFamily="18" charset="0"/>
                  </a:rPr>
                  <a:t>x, y, z</a:t>
                </a:r>
                <a:r>
                  <a:rPr lang="en-US" altLang="en-US" dirty="0"/>
                  <a:t>) for </a:t>
                </a:r>
              </a:p>
              <a:p>
                <a:pPr>
                  <a:buFontTx/>
                  <a:buNone/>
                </a:pPr>
                <a:r>
                  <a:rPr lang="en-US" altLang="en-US" dirty="0"/>
                  <a:t>which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altLang="en-US" dirty="0" smtClean="0"/>
                  <a:t>  </a:t>
                </a:r>
                <a:r>
                  <a:rPr lang="en-US" altLang="en-US" dirty="0"/>
                  <a:t>is orthogonal to the normal </a:t>
                </a:r>
              </a:p>
              <a:p>
                <a:pPr>
                  <a:buFontTx/>
                  <a:buNone/>
                </a:pPr>
                <a:r>
                  <a:rPr lang="en-US" altLang="en-US" dirty="0"/>
                  <a:t>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en-US" dirty="0" smtClean="0"/>
                  <a:t> </a:t>
                </a:r>
                <a:r>
                  <a:rPr lang="en-US" altLang="en-US" b="1" dirty="0" smtClean="0"/>
                  <a:t> </a:t>
                </a:r>
                <a:r>
                  <a:rPr lang="en-US" altLang="en-US" b="1" dirty="0"/>
                  <a:t>= &lt; </a:t>
                </a:r>
                <a:r>
                  <a:rPr lang="en-US" altLang="en-US" i="1" dirty="0">
                    <a:latin typeface="Times New Roman" panose="02020603050405020304" pitchFamily="18" charset="0"/>
                  </a:rPr>
                  <a:t>a, b, c</a:t>
                </a:r>
                <a:r>
                  <a:rPr lang="en-US" altLang="en-US" i="1" dirty="0"/>
                  <a:t> </a:t>
                </a:r>
                <a:r>
                  <a:rPr lang="en-US" altLang="en-US" dirty="0"/>
                  <a:t>&gt;. </a:t>
                </a:r>
                <a:r>
                  <a:rPr lang="en-US" altLang="en-US" dirty="0" smtClean="0"/>
                  <a:t> Since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altLang="en-US" dirty="0" smtClean="0"/>
                  <a:t> </a:t>
                </a:r>
                <a:r>
                  <a:rPr lang="en-US" altLang="en-US" dirty="0" smtClean="0"/>
                  <a:t> </a:t>
                </a:r>
                <a:r>
                  <a:rPr lang="en-US" altLang="en-US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altLang="en-US" dirty="0" smtClean="0"/>
                  <a:t> </a:t>
                </a:r>
                <a:r>
                  <a:rPr lang="en-US" altLang="en-US" dirty="0"/>
                  <a:t>are </a:t>
                </a:r>
              </a:p>
              <a:p>
                <a:pPr>
                  <a:buFontTx/>
                  <a:buNone/>
                </a:pPr>
                <a:r>
                  <a:rPr lang="en-US" altLang="en-US" dirty="0"/>
                  <a:t>orthogonal,  the following equations hold:</a:t>
                </a:r>
              </a:p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FontTx/>
                  <a:buNone/>
                </a:pPr>
                <a:r>
                  <a:rPr lang="en-US" altLang="en-US" dirty="0"/>
                  <a:t>This gives the </a:t>
                </a:r>
                <a:r>
                  <a:rPr lang="en-US" altLang="en-US" i="1" dirty="0"/>
                  <a:t>standard</a:t>
                </a:r>
                <a:r>
                  <a:rPr lang="en-US" altLang="en-US" dirty="0"/>
                  <a:t> </a:t>
                </a:r>
                <a:r>
                  <a:rPr lang="en-US" altLang="en-US" i="1" dirty="0"/>
                  <a:t>equation of a plane.</a:t>
                </a:r>
                <a:r>
                  <a:rPr lang="en-US" altLang="en-US" dirty="0"/>
                  <a:t> </a:t>
                </a:r>
              </a:p>
            </p:txBody>
          </p:sp>
        </mc:Choice>
        <mc:Fallback>
          <p:sp>
            <p:nvSpPr>
              <p:cNvPr id="2437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0" y="0"/>
                <a:ext cx="9144000" cy="6858000"/>
              </a:xfrm>
              <a:blipFill rotWithShape="0">
                <a:blip r:embed="rId3"/>
                <a:stretch>
                  <a:fillRect l="-1333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717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3719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3721" name="Rectangle 9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3723" name="Rectangle 11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3725" name="Rectangle 13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3724" name="Object 12"/>
          <p:cNvGraphicFramePr>
            <a:graphicFrameLocks noChangeAspect="1"/>
          </p:cNvGraphicFramePr>
          <p:nvPr/>
        </p:nvGraphicFramePr>
        <p:xfrm>
          <a:off x="2971800" y="3422650"/>
          <a:ext cx="5715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4" imgW="2501900" imgH="228600" progId="Equation.3">
                  <p:embed/>
                </p:oleObj>
              </mc:Choice>
              <mc:Fallback>
                <p:oleObj name="Equation" r:id="rId4" imgW="2501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422650"/>
                        <a:ext cx="5715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7" name="Rectangle 15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3726" name="Object 14"/>
          <p:cNvGraphicFramePr>
            <a:graphicFrameLocks noChangeAspect="1"/>
          </p:cNvGraphicFramePr>
          <p:nvPr/>
        </p:nvGraphicFramePr>
        <p:xfrm>
          <a:off x="3048000" y="4149726"/>
          <a:ext cx="5867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6" imgW="2336800" imgH="228600" progId="Equation.3">
                  <p:embed/>
                </p:oleObj>
              </mc:Choice>
              <mc:Fallback>
                <p:oleObj name="Equation" r:id="rId6" imgW="233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49726"/>
                        <a:ext cx="58674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4194628" y="2525487"/>
                <a:ext cx="3004457" cy="5754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∙ </m:t>
                    </m:r>
                    <m:acc>
                      <m:accPr>
                        <m:chr m:val="⃗"/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sz="2800" dirty="0" smtClean="0"/>
                  <a:t>=0</a:t>
                </a:r>
                <a:endParaRPr lang="en-US" sz="2800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628" y="2525487"/>
                <a:ext cx="3004457" cy="575479"/>
              </a:xfrm>
              <a:prstGeom prst="rect">
                <a:avLst/>
              </a:prstGeom>
              <a:blipFill rotWithShape="0">
                <a:blip r:embed="rId8"/>
                <a:stretch>
                  <a:fillRect b="-2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2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uiExpand="1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we expand this equation we obtain the following </a:t>
            </a:r>
          </a:p>
          <a:p>
            <a:pPr>
              <a:buFontTx/>
              <a:buNone/>
            </a:pPr>
            <a:r>
              <a:rPr lang="en-US" altLang="en-US" dirty="0"/>
              <a:t>equation: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Setting                               </a:t>
            </a:r>
            <a:r>
              <a:rPr lang="en-US" altLang="en-US" dirty="0" smtClean="0"/>
              <a:t>           gives </a:t>
            </a:r>
            <a:r>
              <a:rPr lang="en-US" altLang="en-US" dirty="0"/>
              <a:t>the </a:t>
            </a:r>
            <a:r>
              <a:rPr lang="en-US" altLang="en-US" i="1" dirty="0"/>
              <a:t>general form </a:t>
            </a:r>
          </a:p>
          <a:p>
            <a:pPr>
              <a:buFontTx/>
              <a:buNone/>
            </a:pPr>
            <a:r>
              <a:rPr lang="en-US" altLang="en-US" i="1" dirty="0"/>
              <a:t>of the equation of a plane </a:t>
            </a:r>
            <a:r>
              <a:rPr lang="en-US" altLang="en-US" dirty="0"/>
              <a:t>in 3D space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We summarize these results as follows.</a:t>
            </a:r>
          </a:p>
        </p:txBody>
      </p:sp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900048"/>
              </p:ext>
            </p:extLst>
          </p:nvPr>
        </p:nvGraphicFramePr>
        <p:xfrm>
          <a:off x="2447018" y="1191151"/>
          <a:ext cx="47640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3" imgW="1942920" imgH="380880" progId="Equation.3">
                  <p:embed/>
                </p:oleObj>
              </mc:Choice>
              <mc:Fallback>
                <p:oleObj name="Equation" r:id="rId3" imgW="194292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018" y="1191151"/>
                        <a:ext cx="4764088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3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47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736848"/>
              </p:ext>
            </p:extLst>
          </p:nvPr>
        </p:nvGraphicFramePr>
        <p:xfrm>
          <a:off x="2684818" y="2496556"/>
          <a:ext cx="32766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5" imgW="1333500" imgH="228600" progId="Equation.3">
                  <p:embed/>
                </p:oleObj>
              </mc:Choice>
              <mc:Fallback>
                <p:oleObj name="Equation" r:id="rId5" imgW="1333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818" y="2496556"/>
                        <a:ext cx="3276600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5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47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101423"/>
              </p:ext>
            </p:extLst>
          </p:nvPr>
        </p:nvGraphicFramePr>
        <p:xfrm>
          <a:off x="3040743" y="3789742"/>
          <a:ext cx="3962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7" imgW="1256755" imgH="203112" progId="Equation.3">
                  <p:embed/>
                </p:oleObj>
              </mc:Choice>
              <mc:Fallback>
                <p:oleObj name="Equation" r:id="rId7" imgW="125675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743" y="3789742"/>
                        <a:ext cx="39624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349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Standard and General Equations of a Plane in 3D </a:t>
            </a:r>
          </a:p>
          <a:p>
            <a:pPr algn="ctr"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space</a:t>
            </a:r>
            <a:endParaRPr lang="en-US" altLang="en-US" dirty="0">
              <a:solidFill>
                <a:srgbClr val="C00000"/>
              </a:solidFill>
            </a:endParaRP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The </a:t>
            </a:r>
            <a:r>
              <a:rPr lang="en-US" altLang="en-US" u="sng" dirty="0"/>
              <a:t>standard</a:t>
            </a:r>
            <a:r>
              <a:rPr lang="en-US" altLang="en-US" dirty="0"/>
              <a:t> </a:t>
            </a:r>
            <a:r>
              <a:rPr lang="en-US" altLang="en-US" u="sng" dirty="0"/>
              <a:t>equation</a:t>
            </a:r>
            <a:r>
              <a:rPr lang="en-US" altLang="en-US" dirty="0"/>
              <a:t> of a plane in 3D space has the </a:t>
            </a:r>
          </a:p>
          <a:p>
            <a:pPr>
              <a:buFontTx/>
              <a:buNone/>
            </a:pPr>
            <a:r>
              <a:rPr lang="en-US" altLang="en-US" dirty="0"/>
              <a:t>form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where                </a:t>
            </a:r>
            <a:r>
              <a:rPr lang="en-US" altLang="en-US" dirty="0" smtClean="0"/>
              <a:t>   is </a:t>
            </a:r>
            <a:r>
              <a:rPr lang="en-US" altLang="en-US" dirty="0"/>
              <a:t>a point on the plane and </a:t>
            </a:r>
            <a:r>
              <a:rPr lang="en-US" altLang="en-US" b="1" i="1" dirty="0">
                <a:latin typeface="Times New Roman" panose="02020603050405020304" pitchFamily="18" charset="0"/>
              </a:rPr>
              <a:t>n</a:t>
            </a:r>
            <a:r>
              <a:rPr lang="en-US" altLang="en-US" b="1" dirty="0"/>
              <a:t> = &lt; </a:t>
            </a:r>
            <a:r>
              <a:rPr lang="en-US" altLang="en-US" i="1" dirty="0">
                <a:latin typeface="Times New Roman" panose="02020603050405020304" pitchFamily="18" charset="0"/>
              </a:rPr>
              <a:t>a, b, c</a:t>
            </a:r>
            <a:r>
              <a:rPr lang="en-US" altLang="en-US" i="1" dirty="0"/>
              <a:t> </a:t>
            </a:r>
            <a:r>
              <a:rPr lang="en-US" altLang="en-US" dirty="0"/>
              <a:t>&gt; </a:t>
            </a:r>
          </a:p>
          <a:p>
            <a:pPr>
              <a:buFontTx/>
              <a:buNone/>
            </a:pPr>
            <a:r>
              <a:rPr lang="en-US" altLang="en-US" dirty="0"/>
              <a:t>is a vector normal (orthogonal to the plane). If this </a:t>
            </a:r>
          </a:p>
          <a:p>
            <a:pPr>
              <a:buFontTx/>
              <a:buNone/>
            </a:pPr>
            <a:r>
              <a:rPr lang="en-US" altLang="en-US" dirty="0"/>
              <a:t>equation is expanded, we obtain the </a:t>
            </a:r>
            <a:r>
              <a:rPr lang="en-US" altLang="en-US" u="sng" dirty="0"/>
              <a:t>general</a:t>
            </a:r>
            <a:r>
              <a:rPr lang="en-US" altLang="en-US" dirty="0"/>
              <a:t> </a:t>
            </a:r>
            <a:r>
              <a:rPr lang="en-US" altLang="en-US" u="sng" dirty="0"/>
              <a:t>equation</a:t>
            </a:r>
            <a:r>
              <a:rPr lang="en-US" altLang="en-US" dirty="0"/>
              <a:t> of </a:t>
            </a:r>
          </a:p>
          <a:p>
            <a:pPr>
              <a:buFontTx/>
              <a:buNone/>
            </a:pPr>
            <a:r>
              <a:rPr lang="en-US" altLang="en-US" dirty="0"/>
              <a:t>a plane of the form</a:t>
            </a:r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57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45903"/>
              </p:ext>
            </p:extLst>
          </p:nvPr>
        </p:nvGraphicFramePr>
        <p:xfrm>
          <a:off x="3101181" y="2741872"/>
          <a:ext cx="46180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Equation" r:id="rId3" imgW="2145960" imgH="228600" progId="Equation.3">
                  <p:embed/>
                </p:oleObj>
              </mc:Choice>
              <mc:Fallback>
                <p:oleObj name="Equation" r:id="rId3" imgW="2145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181" y="2741872"/>
                        <a:ext cx="4618037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7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57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918144"/>
              </p:ext>
            </p:extLst>
          </p:nvPr>
        </p:nvGraphicFramePr>
        <p:xfrm>
          <a:off x="2585032" y="3572392"/>
          <a:ext cx="14478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Equation" r:id="rId5" imgW="736600" imgH="228600" progId="Equation.3">
                  <p:embed/>
                </p:oleObj>
              </mc:Choice>
              <mc:Fallback>
                <p:oleObj name="Equation" r:id="rId5" imgW="736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032" y="3572392"/>
                        <a:ext cx="144780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9" name="Rectangle 9"/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5768" name="Object 8"/>
          <p:cNvGraphicFramePr>
            <a:graphicFrameLocks noChangeAspect="1"/>
          </p:cNvGraphicFramePr>
          <p:nvPr/>
        </p:nvGraphicFramePr>
        <p:xfrm>
          <a:off x="3429000" y="6019800"/>
          <a:ext cx="3962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7" imgW="1256755" imgH="203112" progId="Equation.3">
                  <p:embed/>
                </p:oleObj>
              </mc:Choice>
              <mc:Fallback>
                <p:oleObj name="Equation" r:id="rId7" imgW="125675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6019800"/>
                        <a:ext cx="39624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029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b="1" dirty="0" smtClean="0"/>
              <a:t>Note</a:t>
            </a:r>
            <a:r>
              <a:rPr lang="en-US" altLang="en-US" b="1" dirty="0"/>
              <a:t>1</a:t>
            </a:r>
            <a:r>
              <a:rPr lang="en-US" altLang="en-US" b="1" dirty="0" smtClean="0"/>
              <a:t> </a:t>
            </a:r>
            <a:r>
              <a:rPr lang="en-US" altLang="en-US" dirty="0"/>
              <a:t>To write the equation of a plane in 3D </a:t>
            </a:r>
          </a:p>
          <a:p>
            <a:pPr>
              <a:buFontTx/>
              <a:buNone/>
            </a:pPr>
            <a:r>
              <a:rPr lang="en-US" altLang="en-US" dirty="0"/>
              <a:t>space, we need a </a:t>
            </a:r>
            <a:r>
              <a:rPr lang="en-US" altLang="en-US" u="sng" dirty="0"/>
              <a:t>point</a:t>
            </a:r>
            <a:r>
              <a:rPr lang="en-US" altLang="en-US" dirty="0"/>
              <a:t> on the plane and a vector </a:t>
            </a:r>
          </a:p>
          <a:p>
            <a:pPr>
              <a:buFontTx/>
              <a:buNone/>
            </a:pPr>
            <a:r>
              <a:rPr lang="en-US" altLang="en-US" u="sng" dirty="0"/>
              <a:t>normal</a:t>
            </a:r>
            <a:r>
              <a:rPr lang="en-US" altLang="en-US" dirty="0"/>
              <a:t> (orthogonal) to the plane</a:t>
            </a:r>
            <a:r>
              <a:rPr lang="en-US" altLang="en-US" dirty="0" smtClean="0"/>
              <a:t>.</a:t>
            </a:r>
          </a:p>
          <a:p>
            <a:pPr marL="228600" lvl="1">
              <a:spcBef>
                <a:spcPts val="1000"/>
              </a:spcBef>
              <a:buNone/>
            </a:pPr>
            <a:r>
              <a:rPr lang="en-US" altLang="en-US" sz="2800" b="1" dirty="0" smtClean="0"/>
              <a:t>Note2 </a:t>
            </a:r>
            <a:r>
              <a:rPr lang="en-US" altLang="en-US" sz="2800" dirty="0" smtClean="0"/>
              <a:t>A </a:t>
            </a:r>
            <a:r>
              <a:rPr lang="en-US" altLang="en-US" sz="2800" dirty="0"/>
              <a:t>single vector parallel to a plane is not enough </a:t>
            </a:r>
            <a:br>
              <a:rPr lang="en-US" altLang="en-US" sz="2800" dirty="0"/>
            </a:br>
            <a:r>
              <a:rPr lang="en-US" altLang="en-US" sz="2800" dirty="0"/>
              <a:t>to convey the ‘direction’ of the plane</a:t>
            </a:r>
            <a:r>
              <a:rPr lang="en-US" altLang="en-US" sz="2800" dirty="0" smtClean="0"/>
              <a:t>.</a:t>
            </a:r>
            <a:endParaRPr lang="en-US" altLang="en-US" sz="2800" dirty="0"/>
          </a:p>
          <a:p>
            <a:pPr>
              <a:buFontTx/>
              <a:buNone/>
            </a:pPr>
            <a:r>
              <a:rPr lang="en-US" altLang="en-US" b="1" dirty="0" smtClean="0"/>
              <a:t>Note3 </a:t>
            </a:r>
            <a:r>
              <a:rPr lang="en-US" dirty="0"/>
              <a:t>In a three-dimensional space, a plane can be defined by three points it contains, as long as those points are not on the same line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480" y="3601811"/>
            <a:ext cx="4188787" cy="325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6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8229600" cy="762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C00000"/>
                </a:solidFill>
              </a:rPr>
              <a:t>Intersecting Planes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066800"/>
            <a:ext cx="9144000" cy="1143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Suppose we are given two intersecting planes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with angle      between them.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8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809062"/>
              </p:ext>
            </p:extLst>
          </p:nvPr>
        </p:nvGraphicFramePr>
        <p:xfrm>
          <a:off x="3204028" y="1600200"/>
          <a:ext cx="312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3" imgW="126725" imgH="177415" progId="Equation.3">
                  <p:embed/>
                </p:oleObj>
              </mc:Choice>
              <mc:Fallback>
                <p:oleObj name="Equation" r:id="rId3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028" y="1600200"/>
                        <a:ext cx="31273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83773" y="2209800"/>
            <a:ext cx="9143999" cy="4191001"/>
            <a:chOff x="1524001" y="2286000"/>
            <a:chExt cx="9143999" cy="4191001"/>
          </a:xfrm>
        </p:grpSpPr>
        <p:sp>
          <p:nvSpPr>
            <p:cNvPr id="248856" name="Rectangle 24"/>
            <p:cNvSpPr>
              <a:spLocks noChangeArrowheads="1"/>
            </p:cNvSpPr>
            <p:nvPr/>
          </p:nvSpPr>
          <p:spPr bwMode="auto">
            <a:xfrm>
              <a:off x="1524001" y="3153847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8858" name="Rectangle 26"/>
            <p:cNvSpPr>
              <a:spLocks noChangeArrowheads="1"/>
            </p:cNvSpPr>
            <p:nvPr/>
          </p:nvSpPr>
          <p:spPr bwMode="auto">
            <a:xfrm>
              <a:off x="1524001" y="3134797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8860" name="Rectangle 28"/>
            <p:cNvSpPr>
              <a:spLocks noChangeArrowheads="1"/>
            </p:cNvSpPr>
            <p:nvPr/>
          </p:nvSpPr>
          <p:spPr bwMode="auto">
            <a:xfrm>
              <a:off x="1524001" y="3134797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8862" name="Rectangle 30"/>
            <p:cNvSpPr>
              <a:spLocks noChangeArrowheads="1"/>
            </p:cNvSpPr>
            <p:nvPr/>
          </p:nvSpPr>
          <p:spPr bwMode="auto">
            <a:xfrm>
              <a:off x="1524001" y="3153847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2895601" y="2286000"/>
              <a:ext cx="7772399" cy="4191001"/>
              <a:chOff x="2895601" y="2286000"/>
              <a:chExt cx="7772399" cy="4191001"/>
            </a:xfrm>
          </p:grpSpPr>
          <p:sp>
            <p:nvSpPr>
              <p:cNvPr id="248853" name="Text Box 21"/>
              <p:cNvSpPr txBox="1">
                <a:spLocks noChangeArrowheads="1"/>
              </p:cNvSpPr>
              <p:nvPr/>
            </p:nvSpPr>
            <p:spPr bwMode="auto">
              <a:xfrm>
                <a:off x="8724900" y="4724400"/>
                <a:ext cx="1943100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 altLang="en-US" sz="1600" dirty="0"/>
                  <a:t>Plane 2</a:t>
                </a:r>
              </a:p>
            </p:txBody>
          </p:sp>
          <p:grpSp>
            <p:nvGrpSpPr>
              <p:cNvPr id="2" name="Group 1"/>
              <p:cNvGrpSpPr/>
              <p:nvPr/>
            </p:nvGrpSpPr>
            <p:grpSpPr>
              <a:xfrm>
                <a:off x="2895601" y="2286000"/>
                <a:ext cx="6858000" cy="4191001"/>
                <a:chOff x="2895601" y="2286000"/>
                <a:chExt cx="6858000" cy="4191001"/>
              </a:xfrm>
            </p:grpSpPr>
            <p:sp>
              <p:nvSpPr>
                <p:cNvPr id="248839" name="Line 7"/>
                <p:cNvSpPr>
                  <a:spLocks noChangeShapeType="1"/>
                </p:cNvSpPr>
                <p:nvPr/>
              </p:nvSpPr>
              <p:spPr bwMode="auto">
                <a:xfrm>
                  <a:off x="5638801" y="3048001"/>
                  <a:ext cx="3692525" cy="317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2895601" y="3062288"/>
                  <a:ext cx="2720975" cy="341471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1" name="Line 9"/>
                <p:cNvSpPr>
                  <a:spLocks noChangeShapeType="1"/>
                </p:cNvSpPr>
                <p:nvPr/>
              </p:nvSpPr>
              <p:spPr bwMode="auto">
                <a:xfrm>
                  <a:off x="2971801" y="6473826"/>
                  <a:ext cx="3692525" cy="317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6629400" y="3048001"/>
                  <a:ext cx="2667000" cy="342741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6645276" y="5257800"/>
                  <a:ext cx="3108325" cy="121920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4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7543801" y="5257801"/>
                  <a:ext cx="2136775" cy="317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5" name="Arc 13"/>
                <p:cNvSpPr>
                  <a:spLocks/>
                </p:cNvSpPr>
                <p:nvPr/>
              </p:nvSpPr>
              <p:spPr bwMode="auto">
                <a:xfrm>
                  <a:off x="7375526" y="5181601"/>
                  <a:ext cx="777875" cy="765175"/>
                </a:xfrm>
                <a:custGeom>
                  <a:avLst/>
                  <a:gdLst>
                    <a:gd name="G0" fmla="+- 0 0 0"/>
                    <a:gd name="G1" fmla="+- 19599 0 0"/>
                    <a:gd name="G2" fmla="+- 21600 0 0"/>
                    <a:gd name="T0" fmla="*/ 9079 w 21600"/>
                    <a:gd name="T1" fmla="*/ 0 h 33949"/>
                    <a:gd name="T2" fmla="*/ 16144 w 21600"/>
                    <a:gd name="T3" fmla="*/ 33949 h 33949"/>
                    <a:gd name="T4" fmla="*/ 0 w 21600"/>
                    <a:gd name="T5" fmla="*/ 19599 h 339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33949" fill="none" extrusionOk="0">
                      <a:moveTo>
                        <a:pt x="9079" y="-1"/>
                      </a:moveTo>
                      <a:cubicBezTo>
                        <a:pt x="16713" y="3536"/>
                        <a:pt x="21600" y="11184"/>
                        <a:pt x="21600" y="19599"/>
                      </a:cubicBezTo>
                      <a:cubicBezTo>
                        <a:pt x="21600" y="24889"/>
                        <a:pt x="19658" y="29995"/>
                        <a:pt x="16144" y="33949"/>
                      </a:cubicBezTo>
                    </a:path>
                    <a:path w="21600" h="33949" stroke="0" extrusionOk="0">
                      <a:moveTo>
                        <a:pt x="9079" y="-1"/>
                      </a:moveTo>
                      <a:cubicBezTo>
                        <a:pt x="16713" y="3536"/>
                        <a:pt x="21600" y="11184"/>
                        <a:pt x="21600" y="19599"/>
                      </a:cubicBezTo>
                      <a:cubicBezTo>
                        <a:pt x="21600" y="24889"/>
                        <a:pt x="19658" y="29995"/>
                        <a:pt x="16144" y="33949"/>
                      </a:cubicBezTo>
                      <a:lnTo>
                        <a:pt x="0" y="19599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3366FF"/>
                  </a:solidFill>
                  <a:round/>
                  <a:headEnd type="arrow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861050" y="5372101"/>
                  <a:ext cx="1841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 altLang="en-US"/>
                </a:p>
              </p:txBody>
            </p:sp>
            <p:sp>
              <p:nvSpPr>
                <p:cNvPr id="24884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6321426" y="2362200"/>
                  <a:ext cx="3175" cy="24399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8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4575176" y="2849563"/>
                  <a:ext cx="1746250" cy="1982786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49" name="Arc 17"/>
                <p:cNvSpPr>
                  <a:spLocks/>
                </p:cNvSpPr>
                <p:nvPr/>
              </p:nvSpPr>
              <p:spPr bwMode="auto">
                <a:xfrm flipH="1">
                  <a:off x="5935664" y="4098926"/>
                  <a:ext cx="388937" cy="24447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85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832350" y="4465638"/>
                  <a:ext cx="184150" cy="3667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 altLang="en-US"/>
                </a:p>
              </p:txBody>
            </p:sp>
            <p:sp>
              <p:nvSpPr>
                <p:cNvPr id="24885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000500" y="4162426"/>
                  <a:ext cx="1841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en-US" altLang="en-US"/>
                </a:p>
              </p:txBody>
            </p:sp>
            <p:sp>
              <p:nvSpPr>
                <p:cNvPr id="24885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620000" y="2514600"/>
                  <a:ext cx="1943100" cy="7318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 altLang="en-US" dirty="0"/>
                    <a:t>Plane 1</a:t>
                  </a:r>
                </a:p>
              </p:txBody>
            </p:sp>
            <p:graphicFrame>
              <p:nvGraphicFramePr>
                <p:cNvPr id="248855" name="Object 2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29117378"/>
                    </p:ext>
                  </p:extLst>
                </p:nvPr>
              </p:nvGraphicFramePr>
              <p:xfrm>
                <a:off x="5911850" y="3733800"/>
                <a:ext cx="260350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22" name="Equation" r:id="rId5" imgW="126725" imgH="177415" progId="Equation.3">
                        <p:embed/>
                      </p:oleObj>
                    </mc:Choice>
                    <mc:Fallback>
                      <p:oleObj name="Equation" r:id="rId5" imgW="126725" imgH="17741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911850" y="3733800"/>
                              <a:ext cx="260350" cy="3810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8857" name="Object 25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456433580"/>
                    </p:ext>
                  </p:extLst>
                </p:nvPr>
              </p:nvGraphicFramePr>
              <p:xfrm>
                <a:off x="6400801" y="2286000"/>
                <a:ext cx="396875" cy="457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23" name="Equation" r:id="rId7" imgW="190335" imgH="215713" progId="Equation.3">
                        <p:embed/>
                      </p:oleObj>
                    </mc:Choice>
                    <mc:Fallback>
                      <p:oleObj name="Equation" r:id="rId7" imgW="190335" imgH="21571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400801" y="2286000"/>
                              <a:ext cx="396875" cy="4572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8859" name="Object 2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5053250"/>
                    </p:ext>
                  </p:extLst>
                </p:nvPr>
              </p:nvGraphicFramePr>
              <p:xfrm>
                <a:off x="4214814" y="2828926"/>
                <a:ext cx="433387" cy="5238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24" name="Equation" r:id="rId9" imgW="177569" imgH="215619" progId="Equation.3">
                        <p:embed/>
                      </p:oleObj>
                    </mc:Choice>
                    <mc:Fallback>
                      <p:oleObj name="Equation" r:id="rId9" imgW="177569" imgH="21561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14814" y="2828926"/>
                              <a:ext cx="433387" cy="52387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8861" name="Object 2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81756086"/>
                    </p:ext>
                  </p:extLst>
                </p:nvPr>
              </p:nvGraphicFramePr>
              <p:xfrm>
                <a:off x="8229600" y="5334000"/>
                <a:ext cx="260350" cy="3810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225" name="Equation" r:id="rId11" imgW="126725" imgH="177415" progId="Equation.3">
                        <p:embed/>
                      </p:oleObj>
                    </mc:Choice>
                    <mc:Fallback>
                      <p:oleObj name="Equation" r:id="rId11" imgW="126725" imgH="177415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229600" y="5334000"/>
                              <a:ext cx="260350" cy="3810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  <p:extLst>
      <p:ext uri="{BB962C8B-B14F-4D97-AF65-F5344CB8AC3E}">
        <p14:creationId xmlns:p14="http://schemas.microsoft.com/office/powerpoint/2010/main" val="330621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Let       and       be normal vectors to these </a:t>
            </a:r>
          </a:p>
          <a:p>
            <a:pPr>
              <a:buFontTx/>
              <a:buNone/>
            </a:pPr>
            <a:r>
              <a:rPr lang="en-US" altLang="en-US" dirty="0"/>
              <a:t>planes. Then</a:t>
            </a:r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dirty="0"/>
              <a:t>Thus, two planes are </a:t>
            </a:r>
          </a:p>
          <a:p>
            <a:pPr>
              <a:buFontTx/>
              <a:buNone/>
            </a:pPr>
            <a:r>
              <a:rPr lang="en-US" altLang="en-US" dirty="0"/>
              <a:t>1. Perpendicular if              </a:t>
            </a:r>
            <a:r>
              <a:rPr lang="en-US" altLang="en-US" dirty="0" smtClean="0"/>
              <a:t>       </a:t>
            </a:r>
            <a:r>
              <a:rPr lang="en-US" altLang="en-US" dirty="0"/>
              <a:t>, </a:t>
            </a:r>
            <a:r>
              <a:rPr lang="en-US" altLang="en-US" dirty="0" smtClean="0"/>
              <a:t> which implies             </a:t>
            </a:r>
            <a:r>
              <a:rPr lang="en-US" altLang="en-US" dirty="0"/>
              <a:t>.</a:t>
            </a:r>
          </a:p>
          <a:p>
            <a:pPr>
              <a:buFontTx/>
              <a:buNone/>
            </a:pPr>
            <a:r>
              <a:rPr lang="en-US" altLang="en-US" dirty="0"/>
              <a:t>2. Parallel if              </a:t>
            </a:r>
            <a:r>
              <a:rPr lang="en-US" altLang="en-US" dirty="0" smtClean="0"/>
              <a:t>     , where </a:t>
            </a:r>
            <a:r>
              <a:rPr lang="en-US" altLang="en-US" i="1" dirty="0">
                <a:latin typeface="Times New Roman" panose="02020603050405020304" pitchFamily="18" charset="0"/>
              </a:rPr>
              <a:t>c</a:t>
            </a:r>
            <a:r>
              <a:rPr lang="en-US" altLang="en-US" dirty="0"/>
              <a:t> is a scalar.</a:t>
            </a:r>
          </a:p>
        </p:txBody>
      </p:sp>
      <p:sp>
        <p:nvSpPr>
          <p:cNvPr id="254981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49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183335"/>
              </p:ext>
            </p:extLst>
          </p:nvPr>
        </p:nvGraphicFramePr>
        <p:xfrm>
          <a:off x="2097378" y="-82034"/>
          <a:ext cx="4413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Equation" r:id="rId3" imgW="177569" imgH="215619" progId="Equation.3">
                  <p:embed/>
                </p:oleObj>
              </mc:Choice>
              <mc:Fallback>
                <p:oleObj name="Equation" r:id="rId3" imgW="17756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378" y="-82034"/>
                        <a:ext cx="4413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3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49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358668"/>
              </p:ext>
            </p:extLst>
          </p:nvPr>
        </p:nvGraphicFramePr>
        <p:xfrm>
          <a:off x="3229428" y="-82034"/>
          <a:ext cx="463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Equation" r:id="rId5" imgW="190335" imgH="215713" progId="Equation.3">
                  <p:embed/>
                </p:oleObj>
              </mc:Choice>
              <mc:Fallback>
                <p:oleObj name="Equation" r:id="rId5" imgW="190335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428" y="-82034"/>
                        <a:ext cx="4635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5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4984" name="Object 8"/>
          <p:cNvGraphicFramePr>
            <a:graphicFrameLocks noChangeAspect="1"/>
          </p:cNvGraphicFramePr>
          <p:nvPr/>
        </p:nvGraphicFramePr>
        <p:xfrm>
          <a:off x="4191000" y="1295400"/>
          <a:ext cx="27432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2" name="Equation" r:id="rId7" imgW="1143000" imgH="444500" progId="Equation.3">
                  <p:embed/>
                </p:oleObj>
              </mc:Choice>
              <mc:Fallback>
                <p:oleObj name="Equation" r:id="rId7" imgW="1143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95400"/>
                        <a:ext cx="2743200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7" name="Rectangle 1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49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189473"/>
              </p:ext>
            </p:extLst>
          </p:nvPr>
        </p:nvGraphicFramePr>
        <p:xfrm>
          <a:off x="4343400" y="3530599"/>
          <a:ext cx="1600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3" name="Equation" r:id="rId9" imgW="685502" imgH="215806" progId="Equation.3">
                  <p:embed/>
                </p:oleObj>
              </mc:Choice>
              <mc:Fallback>
                <p:oleObj name="Equation" r:id="rId9" imgW="685502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30599"/>
                        <a:ext cx="1600200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89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49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38867"/>
              </p:ext>
            </p:extLst>
          </p:nvPr>
        </p:nvGraphicFramePr>
        <p:xfrm>
          <a:off x="8236856" y="3403484"/>
          <a:ext cx="9144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Equation" r:id="rId11" imgW="418918" imgH="393529" progId="Equation.3">
                  <p:embed/>
                </p:oleObj>
              </mc:Choice>
              <mc:Fallback>
                <p:oleObj name="Equation" r:id="rId11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6856" y="3403484"/>
                        <a:ext cx="914400" cy="852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1" name="Rectangle 1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49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61770"/>
              </p:ext>
            </p:extLst>
          </p:nvPr>
        </p:nvGraphicFramePr>
        <p:xfrm>
          <a:off x="3377746" y="3998232"/>
          <a:ext cx="1447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Equation" r:id="rId13" imgW="571252" imgH="215806" progId="Equation.3">
                  <p:embed/>
                </p:oleObj>
              </mc:Choice>
              <mc:Fallback>
                <p:oleObj name="Equation" r:id="rId13" imgW="571252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7746" y="3998232"/>
                        <a:ext cx="14478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232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 marL="609600" indent="-609600" algn="ctr">
              <a:buNone/>
            </a:pPr>
            <a:r>
              <a:rPr lang="en-US" altLang="en-US" b="1" u="sng" dirty="0">
                <a:solidFill>
                  <a:srgbClr val="C00000"/>
                </a:solidFill>
              </a:rPr>
              <a:t>Notes</a:t>
            </a:r>
            <a:endParaRPr lang="en-US" altLang="en-US" b="1" dirty="0">
              <a:solidFill>
                <a:srgbClr val="C00000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en-US" altLang="en-US" dirty="0"/>
              <a:t>Given the general equation of a plane </a:t>
            </a:r>
          </a:p>
          <a:p>
            <a:pPr marL="609600" indent="-609600">
              <a:buNone/>
            </a:pPr>
            <a:r>
              <a:rPr lang="en-US" altLang="en-US" dirty="0"/>
              <a:t>                                                      </a:t>
            </a:r>
          </a:p>
          <a:p>
            <a:pPr marL="609600" indent="-609600">
              <a:buNone/>
            </a:pPr>
            <a:endParaRPr lang="en-US" altLang="en-US" dirty="0"/>
          </a:p>
          <a:p>
            <a:pPr marL="609600" indent="-609600">
              <a:buNone/>
            </a:pPr>
            <a:r>
              <a:rPr lang="en-US" altLang="en-US" dirty="0"/>
              <a:t>the normal vector is </a:t>
            </a:r>
            <a:r>
              <a:rPr lang="en-US" altLang="en-US" b="1" i="1" dirty="0"/>
              <a:t>n</a:t>
            </a:r>
            <a:r>
              <a:rPr lang="en-US" altLang="en-US" dirty="0"/>
              <a:t> = &lt; </a:t>
            </a:r>
            <a:r>
              <a:rPr lang="en-US" altLang="en-US" i="1" dirty="0"/>
              <a:t>a, b, c &gt;</a:t>
            </a:r>
            <a:r>
              <a:rPr lang="en-US" altLang="en-US" dirty="0"/>
              <a:t>.</a:t>
            </a:r>
          </a:p>
          <a:p>
            <a:pPr marL="609600" indent="-609600">
              <a:buNone/>
            </a:pPr>
            <a:endParaRPr lang="en-US" altLang="en-US" dirty="0"/>
          </a:p>
          <a:p>
            <a:pPr marL="609600" indent="-609600">
              <a:buNone/>
            </a:pPr>
            <a:r>
              <a:rPr lang="en-US" altLang="en-US" dirty="0"/>
              <a:t>2.	The intersection of two planes is a line.</a:t>
            </a:r>
          </a:p>
        </p:txBody>
      </p:sp>
      <p:sp>
        <p:nvSpPr>
          <p:cNvPr id="256005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004" name="Object 4"/>
          <p:cNvGraphicFramePr>
            <a:graphicFrameLocks noChangeAspect="1"/>
          </p:cNvGraphicFramePr>
          <p:nvPr/>
        </p:nvGraphicFramePr>
        <p:xfrm>
          <a:off x="3276600" y="1371600"/>
          <a:ext cx="4114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3" imgW="1256755" imgH="203112" progId="Equation.3">
                  <p:embed/>
                </p:oleObj>
              </mc:Choice>
              <mc:Fallback>
                <p:oleObj name="Equation" r:id="rId3" imgW="125675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371600"/>
                        <a:ext cx="41148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28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/>
          <a:lstStyle/>
          <a:p>
            <a:pPr algn="l"/>
            <a:r>
              <a:rPr lang="en-US" altLang="en-US" sz="3600" b="1" dirty="0">
                <a:solidFill>
                  <a:srgbClr val="C00000"/>
                </a:solidFill>
              </a:rPr>
              <a:t>Distance Between Points and a Plane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143000"/>
            <a:ext cx="9144000" cy="5715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Suppose we are given a point </a:t>
            </a:r>
            <a:r>
              <a:rPr lang="en-US" altLang="en-US" i="1" dirty="0"/>
              <a:t>Q</a:t>
            </a:r>
            <a:r>
              <a:rPr lang="en-US" altLang="en-US" dirty="0"/>
              <a:t> not in a plane </a:t>
            </a:r>
          </a:p>
          <a:p>
            <a:pPr>
              <a:buFontTx/>
              <a:buNone/>
            </a:pPr>
            <a:r>
              <a:rPr lang="en-US" altLang="en-US" dirty="0"/>
              <a:t>and a point </a:t>
            </a:r>
            <a:r>
              <a:rPr lang="en-US" altLang="en-US" i="1" dirty="0"/>
              <a:t>P</a:t>
            </a:r>
            <a:r>
              <a:rPr lang="en-US" altLang="en-US" dirty="0"/>
              <a:t> on the plane and our goal is to find </a:t>
            </a:r>
          </a:p>
          <a:p>
            <a:pPr>
              <a:buFontTx/>
              <a:buNone/>
            </a:pPr>
            <a:r>
              <a:rPr lang="en-US" altLang="en-US" dirty="0"/>
              <a:t>the shortest distance between the point </a:t>
            </a:r>
            <a:r>
              <a:rPr lang="en-US" altLang="en-US" i="1" dirty="0"/>
              <a:t>Q</a:t>
            </a:r>
            <a:r>
              <a:rPr lang="en-US" altLang="en-US" dirty="0"/>
              <a:t> and the </a:t>
            </a:r>
          </a:p>
          <a:p>
            <a:pPr>
              <a:buFontTx/>
              <a:buNone/>
            </a:pPr>
            <a:r>
              <a:rPr lang="en-US" altLang="en-US" dirty="0"/>
              <a:t>plane.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04035" y="2859314"/>
            <a:ext cx="3849907" cy="3526971"/>
            <a:chOff x="2971800" y="1066800"/>
            <a:chExt cx="6019800" cy="4876801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 flipV="1">
              <a:off x="5332414" y="1066801"/>
              <a:ext cx="1587" cy="3554413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V="1">
              <a:off x="5334000" y="2057401"/>
              <a:ext cx="1905000" cy="2538413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2971800" y="3235326"/>
              <a:ext cx="6019800" cy="2708275"/>
            </a:xfrm>
            <a:prstGeom prst="parallelogram">
              <a:avLst>
                <a:gd name="adj" fmla="val 5556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5334000" y="2057400"/>
              <a:ext cx="18542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7239000" y="2057401"/>
              <a:ext cx="1588" cy="25384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686300" y="1849438"/>
              <a:ext cx="184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en-US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5334000" y="1981200"/>
              <a:ext cx="0" cy="26289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7124700" y="4457700"/>
              <a:ext cx="114300" cy="114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>
              <a:off x="5334000" y="4572000"/>
              <a:ext cx="18542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876800" y="4495800"/>
              <a:ext cx="3048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en-US" i="1">
                  <a:latin typeface="Times New Roman" panose="02020603050405020304" pitchFamily="18" charset="0"/>
                </a:rPr>
                <a:t>P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7162800" y="1676400"/>
              <a:ext cx="457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en-US" i="1">
                  <a:latin typeface="Times New Roman" panose="02020603050405020304" pitchFamily="18" charset="0"/>
                </a:rPr>
                <a:t>Q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5605011"/>
                </p:ext>
              </p:extLst>
            </p:nvPr>
          </p:nvGraphicFramePr>
          <p:xfrm>
            <a:off x="5486401" y="1066800"/>
            <a:ext cx="26352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5" name="Equation" r:id="rId3" imgW="126835" imgH="139518" progId="Equation.3">
                    <p:embed/>
                  </p:oleObj>
                </mc:Choice>
                <mc:Fallback>
                  <p:oleObj name="Equation" r:id="rId3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401" y="1066800"/>
                          <a:ext cx="263525" cy="3048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6186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088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endParaRPr lang="en-US" altLang="en-US" dirty="0" smtClean="0"/>
          </a:p>
          <a:p>
            <a:pPr>
              <a:buFontTx/>
              <a:buNone/>
            </a:pPr>
            <a:r>
              <a:rPr lang="en-US" altLang="en-US" dirty="0" smtClean="0"/>
              <a:t>By </a:t>
            </a:r>
            <a:r>
              <a:rPr lang="en-US" altLang="en-US" dirty="0"/>
              <a:t>projecting the vector         onto the normal </a:t>
            </a:r>
            <a:r>
              <a:rPr lang="en-US" altLang="en-US" dirty="0" smtClean="0"/>
              <a:t> vector </a:t>
            </a:r>
            <a:r>
              <a:rPr lang="en-US" altLang="en-US" b="1" i="1" dirty="0" smtClean="0"/>
              <a:t>n</a:t>
            </a:r>
            <a:r>
              <a:rPr lang="en-US" altLang="en-US" dirty="0" smtClean="0"/>
              <a:t> (calculating </a:t>
            </a:r>
            <a:r>
              <a:rPr lang="en-US" altLang="en-US" dirty="0"/>
              <a:t>the scalar </a:t>
            </a:r>
            <a:r>
              <a:rPr lang="en-US" altLang="en-US" dirty="0" smtClean="0"/>
              <a:t>projection                  we </a:t>
            </a:r>
            <a:r>
              <a:rPr lang="en-US" altLang="en-US" dirty="0"/>
              <a:t>can find the distance </a:t>
            </a:r>
            <a:r>
              <a:rPr lang="en-US" altLang="en-US" i="1" dirty="0"/>
              <a:t>D</a:t>
            </a:r>
            <a:r>
              <a:rPr lang="en-US" altLang="en-US" dirty="0"/>
              <a:t>. </a:t>
            </a:r>
          </a:p>
        </p:txBody>
      </p:sp>
      <p:sp>
        <p:nvSpPr>
          <p:cNvPr id="266245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66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416090"/>
              </p:ext>
            </p:extLst>
          </p:nvPr>
        </p:nvGraphicFramePr>
        <p:xfrm>
          <a:off x="4150631" y="288128"/>
          <a:ext cx="5492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Equation" r:id="rId3" imgW="266584" imgH="330057" progId="Equation.3">
                  <p:embed/>
                </p:oleObj>
              </mc:Choice>
              <mc:Fallback>
                <p:oleObj name="Equation" r:id="rId3" imgW="266584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631" y="288128"/>
                        <a:ext cx="5492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7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66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5901"/>
              </p:ext>
            </p:extLst>
          </p:nvPr>
        </p:nvGraphicFramePr>
        <p:xfrm>
          <a:off x="5599810" y="739887"/>
          <a:ext cx="137001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Equation" r:id="rId5" imgW="672840" imgH="317160" progId="Equation.3">
                  <p:embed/>
                </p:oleObj>
              </mc:Choice>
              <mc:Fallback>
                <p:oleObj name="Equation" r:id="rId5" imgW="6728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810" y="739887"/>
                        <a:ext cx="1370013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9" name="Rectangle 9"/>
          <p:cNvSpPr>
            <a:spLocks noChangeArrowheads="1"/>
          </p:cNvSpPr>
          <p:nvPr/>
        </p:nvSpPr>
        <p:spPr bwMode="auto">
          <a:xfrm>
            <a:off x="1524001" y="2972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66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892307"/>
              </p:ext>
            </p:extLst>
          </p:nvPr>
        </p:nvGraphicFramePr>
        <p:xfrm>
          <a:off x="682152" y="2669674"/>
          <a:ext cx="63468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Equation" r:id="rId7" imgW="2958840" imgH="507960" progId="Equation.3">
                  <p:embed/>
                </p:oleObj>
              </mc:Choice>
              <mc:Fallback>
                <p:oleObj name="Equation" r:id="rId7" imgW="29588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52" y="2669674"/>
                        <a:ext cx="6346825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6411693" y="2414612"/>
            <a:ext cx="5693228" cy="3957159"/>
            <a:chOff x="2971800" y="1066800"/>
            <a:chExt cx="6019800" cy="4876801"/>
          </a:xfrm>
        </p:grpSpPr>
        <p:sp>
          <p:nvSpPr>
            <p:cNvPr id="34" name="Line 4"/>
            <p:cNvSpPr>
              <a:spLocks noChangeShapeType="1"/>
            </p:cNvSpPr>
            <p:nvPr/>
          </p:nvSpPr>
          <p:spPr bwMode="auto">
            <a:xfrm flipV="1">
              <a:off x="5332414" y="1066801"/>
              <a:ext cx="1587" cy="3554413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 flipV="1">
              <a:off x="5334000" y="2057401"/>
              <a:ext cx="1905000" cy="2538413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utoShape 6"/>
            <p:cNvSpPr>
              <a:spLocks noChangeArrowheads="1"/>
            </p:cNvSpPr>
            <p:nvPr/>
          </p:nvSpPr>
          <p:spPr bwMode="auto">
            <a:xfrm>
              <a:off x="2971800" y="3235326"/>
              <a:ext cx="6019800" cy="2708275"/>
            </a:xfrm>
            <a:prstGeom prst="parallelogram">
              <a:avLst>
                <a:gd name="adj" fmla="val 55569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"/>
            <p:cNvSpPr>
              <a:spLocks noChangeShapeType="1"/>
            </p:cNvSpPr>
            <p:nvPr/>
          </p:nvSpPr>
          <p:spPr bwMode="auto">
            <a:xfrm flipH="1">
              <a:off x="5334000" y="2057400"/>
              <a:ext cx="18542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7239000" y="2057401"/>
              <a:ext cx="1588" cy="25384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4686300" y="1849438"/>
              <a:ext cx="184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en-US" altLang="en-US"/>
            </a:p>
          </p:txBody>
        </p:sp>
        <p:sp>
          <p:nvSpPr>
            <p:cNvPr id="40" name="Line 10"/>
            <p:cNvSpPr>
              <a:spLocks noChangeShapeType="1"/>
            </p:cNvSpPr>
            <p:nvPr/>
          </p:nvSpPr>
          <p:spPr bwMode="auto">
            <a:xfrm flipV="1">
              <a:off x="5334000" y="1981200"/>
              <a:ext cx="0" cy="26289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1"/>
            <p:cNvSpPr>
              <a:spLocks noChangeArrowheads="1"/>
            </p:cNvSpPr>
            <p:nvPr/>
          </p:nvSpPr>
          <p:spPr bwMode="auto">
            <a:xfrm>
              <a:off x="7124700" y="4457700"/>
              <a:ext cx="114300" cy="114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2"/>
            <p:cNvSpPr>
              <a:spLocks noChangeShapeType="1"/>
            </p:cNvSpPr>
            <p:nvPr/>
          </p:nvSpPr>
          <p:spPr bwMode="auto">
            <a:xfrm flipH="1">
              <a:off x="5334000" y="4572000"/>
              <a:ext cx="18542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Box 13"/>
            <p:cNvSpPr txBox="1">
              <a:spLocks noChangeArrowheads="1"/>
            </p:cNvSpPr>
            <p:nvPr/>
          </p:nvSpPr>
          <p:spPr bwMode="auto">
            <a:xfrm>
              <a:off x="4876800" y="4495800"/>
              <a:ext cx="3048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en-US" i="1">
                  <a:latin typeface="Times New Roman" panose="02020603050405020304" pitchFamily="18" charset="0"/>
                </a:rPr>
                <a:t>P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7162800" y="1676400"/>
              <a:ext cx="457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en-US" i="1">
                  <a:latin typeface="Times New Roman" panose="02020603050405020304" pitchFamily="18" charset="0"/>
                </a:rPr>
                <a:t>Q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5336118"/>
                </p:ext>
              </p:extLst>
            </p:nvPr>
          </p:nvGraphicFramePr>
          <p:xfrm>
            <a:off x="5486401" y="1066800"/>
            <a:ext cx="263525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1" name="Equation" r:id="rId9" imgW="126835" imgH="139518" progId="Equation.3">
                    <p:embed/>
                  </p:oleObj>
                </mc:Choice>
                <mc:Fallback>
                  <p:oleObj name="Equation" r:id="rId9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401" y="1066800"/>
                          <a:ext cx="263525" cy="3048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286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90" y="3399929"/>
            <a:ext cx="6170432" cy="16105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90" y="2335634"/>
            <a:ext cx="6170432" cy="7621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390" y="822198"/>
            <a:ext cx="6170432" cy="12113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78390" y="5312643"/>
            <a:ext cx="64878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dirty="0" smtClean="0">
                <a:solidFill>
                  <a:srgbClr val="333333"/>
                </a:solidFill>
                <a:effectLst/>
                <a:latin typeface="Untitled Sans"/>
              </a:rPr>
              <a:t>Determine the distance between the point P = (1, 2, 5) and the plane π: 3x + 4y + z + 7 = 0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931885" y="114312"/>
            <a:ext cx="3541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</a:rPr>
              <a:t>Practice 1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2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358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Untitled Sans</vt:lpstr>
      <vt:lpstr>Office Theme</vt:lpstr>
      <vt:lpstr>Microsoft Equation 3.0</vt:lpstr>
      <vt:lpstr>Planes in 3D Space</vt:lpstr>
      <vt:lpstr>PowerPoint Presentation</vt:lpstr>
      <vt:lpstr>PowerPoint Presentation</vt:lpstr>
      <vt:lpstr>PowerPoint Presentation</vt:lpstr>
      <vt:lpstr>PowerPoint Presentation</vt:lpstr>
      <vt:lpstr>Intersecting Planes</vt:lpstr>
      <vt:lpstr>PowerPoint Presentation</vt:lpstr>
      <vt:lpstr>PowerPoint Presentation</vt:lpstr>
      <vt:lpstr>Distance Between Points and a Plane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Planes in 3D Space</dc:title>
  <dc:creator>User</dc:creator>
  <cp:lastModifiedBy>User</cp:lastModifiedBy>
  <cp:revision>15</cp:revision>
  <dcterms:created xsi:type="dcterms:W3CDTF">2022-10-16T15:16:21Z</dcterms:created>
  <dcterms:modified xsi:type="dcterms:W3CDTF">2022-10-16T19:34:33Z</dcterms:modified>
</cp:coreProperties>
</file>