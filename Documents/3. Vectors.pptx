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8" r:id="rId11"/>
    <p:sldId id="266" r:id="rId12"/>
    <p:sldId id="267" r:id="rId13"/>
    <p:sldId id="269" r:id="rId14"/>
    <p:sldId id="268" r:id="rId15"/>
    <p:sldId id="279" r:id="rId16"/>
    <p:sldId id="270" r:id="rId17"/>
    <p:sldId id="271" r:id="rId18"/>
    <p:sldId id="272" r:id="rId19"/>
    <p:sldId id="274" r:id="rId20"/>
    <p:sldId id="275" r:id="rId21"/>
    <p:sldId id="273" r:id="rId22"/>
    <p:sldId id="276" r:id="rId23"/>
    <p:sldId id="277" r:id="rId24"/>
    <p:sldId id="280" r:id="rId25"/>
    <p:sldId id="281" r:id="rId26"/>
    <p:sldId id="285" r:id="rId27"/>
    <p:sldId id="282" r:id="rId28"/>
    <p:sldId id="286" r:id="rId29"/>
    <p:sldId id="284" r:id="rId30"/>
    <p:sldId id="28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C7303-0CCC-47C4-8489-3DE8F5B1C4D6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84FD9-4CAC-4716-895F-DEC48BA3B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420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84FD9-4CAC-4716-895F-DEC48BA3B1D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72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73FDF-2905-44CE-86F6-4CD1E29F94BF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5C8B-F8D9-4FDD-A9B8-377204F35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08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73FDF-2905-44CE-86F6-4CD1E29F94BF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5C8B-F8D9-4FDD-A9B8-377204F35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32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73FDF-2905-44CE-86F6-4CD1E29F94BF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5C8B-F8D9-4FDD-A9B8-377204F35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7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73FDF-2905-44CE-86F6-4CD1E29F94BF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5C8B-F8D9-4FDD-A9B8-377204F35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983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73FDF-2905-44CE-86F6-4CD1E29F94BF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5C8B-F8D9-4FDD-A9B8-377204F35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9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73FDF-2905-44CE-86F6-4CD1E29F94BF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5C8B-F8D9-4FDD-A9B8-377204F35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151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73FDF-2905-44CE-86F6-4CD1E29F94BF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5C8B-F8D9-4FDD-A9B8-377204F35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276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73FDF-2905-44CE-86F6-4CD1E29F94BF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5C8B-F8D9-4FDD-A9B8-377204F35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3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73FDF-2905-44CE-86F6-4CD1E29F94BF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5C8B-F8D9-4FDD-A9B8-377204F35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71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73FDF-2905-44CE-86F6-4CD1E29F94BF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5C8B-F8D9-4FDD-A9B8-377204F35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249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73FDF-2905-44CE-86F6-4CD1E29F94BF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5C8B-F8D9-4FDD-A9B8-377204F35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80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73FDF-2905-44CE-86F6-4CD1E29F94BF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C5C8B-F8D9-4FDD-A9B8-377204F35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98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athsisfun.com/algebra/vector-unit.html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sisfun.com/area.html" TargetMode="Externa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hyperlink" Target="https://www.superprof.co.uk/resources/academic/maths/analytical-geometry/vectors/cross-product.html#at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Vectors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Some of the quantities we measure in our daily lives are completely determined by their magnitudes, for example, length, mass, area, temperature, and energy. We call such quantities </a:t>
            </a:r>
            <a:r>
              <a:rPr lang="en-US" b="1" dirty="0" smtClean="0"/>
              <a:t>scalar quantities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Quantities such as displacement, velocity, acceleration, and other forces that have magnitude as well as direction are called </a:t>
            </a:r>
            <a:r>
              <a:rPr lang="en-US" b="1" dirty="0" smtClean="0"/>
              <a:t>vector quantities.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5091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Directed line segment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06073" y="2000429"/>
            <a:ext cx="2447727" cy="249305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19200" y="1769597"/>
            <a:ext cx="68278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A directed line segment in the plane is called a vector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444" y="2510972"/>
            <a:ext cx="4625013" cy="17567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45029" y="4992914"/>
            <a:ext cx="62701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Two vectors that have the same direction and length are called equal vectors.</a:t>
            </a:r>
            <a:endParaRPr lang="en-US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7655" y="4992914"/>
            <a:ext cx="3983774" cy="148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5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Addition of Vectors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768412"/>
            <a:ext cx="5424367" cy="222874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7431" y="1690688"/>
            <a:ext cx="27789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The Polygon Method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367" y="1690688"/>
            <a:ext cx="6767633" cy="335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4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The Parallelogram Method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3939" y="2235201"/>
            <a:ext cx="12235939" cy="229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84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Example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343" y="1797850"/>
            <a:ext cx="3182938" cy="36670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670" y="1821467"/>
            <a:ext cx="3633216" cy="36579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55020"/>
            <a:ext cx="3541485" cy="35098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6618" y="647698"/>
            <a:ext cx="5185578" cy="70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627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Example 2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12" y="1503931"/>
            <a:ext cx="10335634" cy="5570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29" y="2859767"/>
            <a:ext cx="5588497" cy="263608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59767"/>
            <a:ext cx="5401810" cy="265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62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Subtraction of Vectors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7342" y="3018971"/>
            <a:ext cx="8991058" cy="18731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171" y="2077332"/>
            <a:ext cx="2575744" cy="55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877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Example 3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317739"/>
            <a:ext cx="9931400" cy="6972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158" y="2222044"/>
            <a:ext cx="5437443" cy="443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64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Multiplication of a Vector by a Scalar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62" y="2300288"/>
            <a:ext cx="11490632" cy="204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75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Example 4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8407400" cy="1453912"/>
          </a:xfrm>
          <a:prstGeom prst="rect">
            <a:avLst/>
          </a:prstGeom>
        </p:spPr>
      </p:pic>
      <p:pic>
        <p:nvPicPr>
          <p:cNvPr id="5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6000" y="5129124"/>
            <a:ext cx="3251199" cy="126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09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Parallel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586" y="250666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C00000"/>
                </a:solidFill>
              </a:rPr>
              <a:t>Example 5</a:t>
            </a:r>
          </a:p>
          <a:p>
            <a:pPr marL="0" indent="0">
              <a:buNone/>
            </a:pPr>
            <a:r>
              <a:rPr lang="en-US" dirty="0" smtClean="0"/>
              <a:t>Prove </a:t>
            </a:r>
            <a:r>
              <a:rPr lang="en-US" dirty="0"/>
              <a:t>that the diagonals of a parallelogram intersect at their midpoints by using vectors.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6" y="1313883"/>
            <a:ext cx="12087010" cy="9076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853" y="3659770"/>
            <a:ext cx="3980333" cy="240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79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303" y="1277256"/>
            <a:ext cx="7069168" cy="153012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303" y="3352953"/>
            <a:ext cx="7371670" cy="11690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6303" y="5067602"/>
            <a:ext cx="7186786" cy="16742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98444" y="290286"/>
            <a:ext cx="307001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 smtClean="0">
                <a:solidFill>
                  <a:srgbClr val="C00000"/>
                </a:solidFill>
              </a:rPr>
              <a:t>Practice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618897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Position </a:t>
            </a:r>
            <a:r>
              <a:rPr lang="en-US" b="1" dirty="0" smtClean="0">
                <a:solidFill>
                  <a:srgbClr val="C00000"/>
                </a:solidFill>
              </a:rPr>
              <a:t>Vector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1029" y="2444751"/>
            <a:ext cx="4212770" cy="42127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" y="1324135"/>
            <a:ext cx="12172300" cy="12448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886" y="3126632"/>
            <a:ext cx="6545943" cy="5745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064783"/>
            <a:ext cx="2169885" cy="74521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6666" y="4156425"/>
            <a:ext cx="3060247" cy="67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019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274303" y="304800"/>
            <a:ext cx="468147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Addition of Vectors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445" y="1551056"/>
            <a:ext cx="3997190" cy="27453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172" y="4924112"/>
            <a:ext cx="6154057" cy="112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97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46347" y="319315"/>
            <a:ext cx="53542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Subtraction of Vectors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397" y="1212383"/>
            <a:ext cx="4049484" cy="39902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347" y="5326234"/>
            <a:ext cx="6026211" cy="122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20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Multiplication of a Vector by a Scalar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843314"/>
            <a:ext cx="7680483" cy="7257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404673"/>
            <a:ext cx="7165325" cy="160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837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Parallel Vectors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717" y="2452914"/>
            <a:ext cx="11336566" cy="220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923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Linear Combination of </a:t>
            </a:r>
            <a:r>
              <a:rPr lang="en-US" b="1" dirty="0" smtClean="0">
                <a:solidFill>
                  <a:srgbClr val="C00000"/>
                </a:solidFill>
              </a:rPr>
              <a:t>Vectors ( optional)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03696"/>
            <a:ext cx="12236667" cy="11395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72" y="2935651"/>
            <a:ext cx="11530580" cy="5523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14" y="3801631"/>
            <a:ext cx="5829410" cy="201859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8740" y="3876111"/>
            <a:ext cx="2525260" cy="90601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0971" y="5100783"/>
            <a:ext cx="2687337" cy="71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500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DOT PRODUCT </a:t>
            </a:r>
            <a:r>
              <a:rPr lang="en-US" b="1" dirty="0" smtClean="0">
                <a:solidFill>
                  <a:srgbClr val="C00000"/>
                </a:solidFill>
              </a:rPr>
              <a:t>(Scalar Product)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14" y="1559534"/>
            <a:ext cx="9429300" cy="1853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412809"/>
            <a:ext cx="10515601" cy="330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22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Angle Between Two Vectors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525" y="1690688"/>
            <a:ext cx="11919780" cy="12411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171" y="3016251"/>
            <a:ext cx="3744686" cy="35351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8200" y="5809405"/>
            <a:ext cx="65604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smtClean="0"/>
              <a:t>Prove by using the </a:t>
            </a:r>
            <a:r>
              <a:rPr lang="en-US" sz="2400" i="1" dirty="0"/>
              <a:t>law of cosines</a:t>
            </a:r>
            <a:r>
              <a:rPr lang="en-US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1982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25600" y="464457"/>
            <a:ext cx="834571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</a:rPr>
              <a:t>Perpendicular and Parallel Vectors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02" y="1799772"/>
            <a:ext cx="11020527" cy="53658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216" y="2902227"/>
            <a:ext cx="9569098" cy="125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473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02" y="980290"/>
            <a:ext cx="10736810" cy="7623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7" y="2556142"/>
            <a:ext cx="8732291" cy="31725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177" y="1855884"/>
            <a:ext cx="3636823" cy="29252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306" y="5876149"/>
            <a:ext cx="3375151" cy="47217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2856" y="5744915"/>
            <a:ext cx="3571149" cy="79728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00502" y="210849"/>
            <a:ext cx="246035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C00000"/>
                </a:solidFill>
              </a:rPr>
              <a:t>Example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sz="4400" dirty="0">
                <a:solidFill>
                  <a:srgbClr val="C00000"/>
                </a:solidFill>
              </a:rPr>
              <a:t>6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113981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242" y="1096115"/>
            <a:ext cx="7161570" cy="100148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242" y="2278743"/>
            <a:ext cx="6549158" cy="8802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7242" y="5148572"/>
            <a:ext cx="7161570" cy="9259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7242" y="3391201"/>
            <a:ext cx="6766872" cy="15251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58339" y="94479"/>
            <a:ext cx="307001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 smtClean="0">
                <a:solidFill>
                  <a:srgbClr val="C00000"/>
                </a:solidFill>
              </a:rPr>
              <a:t>Practice 2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00314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Vector ( cross) product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5466" y="1825625"/>
            <a:ext cx="2754124" cy="39099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980" y="2261053"/>
            <a:ext cx="4746020" cy="68534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293358" y="3240994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333333"/>
                </a:solidFill>
                <a:latin typeface="Verdana" panose="020B0604030504040204" pitchFamily="34" charset="0"/>
              </a:rPr>
              <a:t>n</a:t>
            </a:r>
            <a:r>
              <a:rPr lang="en-US" sz="2400" dirty="0">
                <a:solidFill>
                  <a:srgbClr val="333333"/>
                </a:solidFill>
                <a:latin typeface="Verdana" panose="020B0604030504040204" pitchFamily="34" charset="0"/>
              </a:rPr>
              <a:t> is the </a:t>
            </a:r>
            <a:r>
              <a:rPr lang="en-US" sz="2400" dirty="0">
                <a:solidFill>
                  <a:srgbClr val="333333"/>
                </a:solidFill>
                <a:latin typeface="Verdana" panose="020B0604030504040204" pitchFamily="34" charset="0"/>
                <a:hlinkClick r:id="rId4"/>
              </a:rPr>
              <a:t>unit vector</a:t>
            </a:r>
            <a:r>
              <a:rPr lang="en-US" sz="2400" dirty="0">
                <a:solidFill>
                  <a:srgbClr val="333333"/>
                </a:solidFill>
                <a:latin typeface="Verdana" panose="020B0604030504040204" pitchFamily="34" charset="0"/>
              </a:rPr>
              <a:t> at right angles to both </a:t>
            </a:r>
            <a:r>
              <a:rPr lang="en-US" sz="2400" b="1" dirty="0">
                <a:solidFill>
                  <a:srgbClr val="333333"/>
                </a:solidFill>
                <a:latin typeface="Verdana" panose="020B0604030504040204" pitchFamily="34" charset="0"/>
              </a:rPr>
              <a:t>a</a:t>
            </a:r>
            <a:r>
              <a:rPr lang="en-US" sz="2400" dirty="0">
                <a:solidFill>
                  <a:srgbClr val="333333"/>
                </a:solidFill>
                <a:latin typeface="Verdana" panose="020B0604030504040204" pitchFamily="34" charset="0"/>
              </a:rPr>
              <a:t> and </a:t>
            </a:r>
            <a:r>
              <a:rPr lang="en-US" sz="2400" b="1" dirty="0">
                <a:solidFill>
                  <a:srgbClr val="333333"/>
                </a:solidFill>
                <a:latin typeface="Verdana" panose="020B0604030504040204" pitchFamily="34" charset="0"/>
              </a:rPr>
              <a:t>b</a:t>
            </a:r>
            <a:endParaRPr lang="en-US" sz="2400" b="0" i="0" dirty="0">
              <a:solidFill>
                <a:srgbClr val="333333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926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18" y="1935328"/>
            <a:ext cx="3218996" cy="338407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83481"/>
            <a:ext cx="69813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333333"/>
                </a:solidFill>
                <a:latin typeface="Verdana" panose="020B0604030504040204" pitchFamily="34" charset="0"/>
              </a:rPr>
              <a:t>The </a:t>
            </a:r>
            <a:r>
              <a:rPr lang="en-US" sz="2400" dirty="0" smtClean="0">
                <a:solidFill>
                  <a:srgbClr val="333333"/>
                </a:solidFill>
                <a:latin typeface="Verdana" panose="020B0604030504040204" pitchFamily="34" charset="0"/>
              </a:rPr>
              <a:t>magnitude </a:t>
            </a:r>
            <a:r>
              <a:rPr lang="en-US" sz="2400" dirty="0">
                <a:solidFill>
                  <a:srgbClr val="333333"/>
                </a:solidFill>
                <a:latin typeface="Verdana" panose="020B0604030504040204" pitchFamily="34" charset="0"/>
              </a:rPr>
              <a:t>of the cross product equals the </a:t>
            </a:r>
            <a:r>
              <a:rPr lang="en-US" sz="2400" dirty="0">
                <a:latin typeface="Verdana" panose="020B0604030504040204" pitchFamily="34" charset="0"/>
                <a:hlinkClick r:id="rId3"/>
              </a:rPr>
              <a:t>area of a parallelogram</a:t>
            </a:r>
            <a:r>
              <a:rPr lang="en-US" sz="2400" dirty="0">
                <a:solidFill>
                  <a:srgbClr val="333333"/>
                </a:solidFill>
                <a:latin typeface="Verdana" panose="020B0604030504040204" pitchFamily="34" charset="0"/>
              </a:rPr>
              <a:t> with vectors </a:t>
            </a:r>
            <a:r>
              <a:rPr lang="en-US" sz="2400" b="1" dirty="0">
                <a:solidFill>
                  <a:srgbClr val="333333"/>
                </a:solidFill>
                <a:latin typeface="Verdana" panose="020B0604030504040204" pitchFamily="34" charset="0"/>
              </a:rPr>
              <a:t>a</a:t>
            </a:r>
            <a:r>
              <a:rPr lang="en-US" sz="2400" dirty="0">
                <a:solidFill>
                  <a:srgbClr val="333333"/>
                </a:solidFill>
                <a:latin typeface="Verdana" panose="020B0604030504040204" pitchFamily="34" charset="0"/>
              </a:rPr>
              <a:t> and </a:t>
            </a:r>
            <a:r>
              <a:rPr lang="en-US" sz="2400" b="1" dirty="0">
                <a:solidFill>
                  <a:srgbClr val="333333"/>
                </a:solidFill>
                <a:latin typeface="Verdana" panose="020B0604030504040204" pitchFamily="34" charset="0"/>
              </a:rPr>
              <a:t>b</a:t>
            </a:r>
            <a:r>
              <a:rPr lang="en-US" sz="2400" dirty="0">
                <a:solidFill>
                  <a:srgbClr val="333333"/>
                </a:solidFill>
                <a:latin typeface="Verdana" panose="020B0604030504040204" pitchFamily="34" charset="0"/>
              </a:rPr>
              <a:t> for sides</a:t>
            </a:r>
            <a:r>
              <a:rPr lang="en-US" dirty="0">
                <a:solidFill>
                  <a:srgbClr val="333333"/>
                </a:solidFill>
                <a:latin typeface="Verdana" panose="020B0604030504040204" pitchFamily="34" charset="0"/>
              </a:rPr>
              <a:t>: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176938" y="1293017"/>
            <a:ext cx="701506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2664B5"/>
                </a:solidFill>
                <a:latin typeface="Verdana" panose="020B0604030504040204" pitchFamily="34" charset="0"/>
              </a:rPr>
              <a:t>Direction </a:t>
            </a:r>
            <a:r>
              <a:rPr lang="en-US" sz="2400" dirty="0">
                <a:solidFill>
                  <a:srgbClr val="333333"/>
                </a:solidFill>
                <a:latin typeface="Verdana" panose="020B0604030504040204" pitchFamily="34" charset="0"/>
              </a:rPr>
              <a:t>of the cross </a:t>
            </a:r>
            <a:r>
              <a:rPr lang="en-US" sz="2400" dirty="0" smtClean="0">
                <a:solidFill>
                  <a:srgbClr val="333333"/>
                </a:solidFill>
                <a:latin typeface="Verdana" panose="020B0604030504040204" pitchFamily="34" charset="0"/>
              </a:rPr>
              <a:t>product is determined</a:t>
            </a:r>
          </a:p>
          <a:p>
            <a:r>
              <a:rPr lang="en-US" sz="2400" dirty="0" smtClean="0">
                <a:solidFill>
                  <a:srgbClr val="333333"/>
                </a:solidFill>
                <a:latin typeface="Verdana" panose="020B0604030504040204" pitchFamily="34" charset="0"/>
              </a:rPr>
              <a:t>By “</a:t>
            </a:r>
            <a:r>
              <a:rPr lang="en-US" sz="2400" dirty="0" smtClean="0">
                <a:solidFill>
                  <a:srgbClr val="2664B5"/>
                </a:solidFill>
                <a:latin typeface="Verdana" panose="020B0604030504040204" pitchFamily="34" charset="0"/>
              </a:rPr>
              <a:t> Right </a:t>
            </a:r>
            <a:r>
              <a:rPr lang="en-US" sz="2400" dirty="0">
                <a:solidFill>
                  <a:srgbClr val="2664B5"/>
                </a:solidFill>
                <a:latin typeface="Verdana" panose="020B0604030504040204" pitchFamily="34" charset="0"/>
              </a:rPr>
              <a:t>Hand </a:t>
            </a:r>
            <a:r>
              <a:rPr lang="en-US" sz="2400" dirty="0" smtClean="0">
                <a:solidFill>
                  <a:srgbClr val="2664B5"/>
                </a:solidFill>
                <a:latin typeface="Verdana" panose="020B0604030504040204" pitchFamily="34" charset="0"/>
              </a:rPr>
              <a:t>Rule”.</a:t>
            </a:r>
            <a:endParaRPr lang="en-US" sz="2400" dirty="0"/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409" y="2124014"/>
            <a:ext cx="3988119" cy="427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081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8260" y="506826"/>
            <a:ext cx="66506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  <a:latin typeface="Soleil"/>
              </a:rPr>
              <a:t>PROPERTIES of Cross Product</a:t>
            </a:r>
            <a:endParaRPr lang="en-US" sz="3200" dirty="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51" y="1669143"/>
            <a:ext cx="10465929" cy="368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938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04921" y="573705"/>
            <a:ext cx="8105809" cy="7017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Component Form of Vector Product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626" y="1378856"/>
            <a:ext cx="3781689" cy="18908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96" y="3582984"/>
            <a:ext cx="7835511" cy="6358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396" y="4218801"/>
            <a:ext cx="9731489" cy="22813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4744" y="2656901"/>
            <a:ext cx="246035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C00000"/>
                </a:solidFill>
              </a:rPr>
              <a:t>Example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sz="4400" dirty="0">
                <a:solidFill>
                  <a:srgbClr val="C00000"/>
                </a:solidFill>
              </a:rPr>
              <a:t>7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215141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58339" y="94479"/>
            <a:ext cx="307001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 smtClean="0">
                <a:solidFill>
                  <a:srgbClr val="C00000"/>
                </a:solidFill>
              </a:rPr>
              <a:t>Practice </a:t>
            </a:r>
            <a:r>
              <a:rPr lang="en-US" sz="4400" dirty="0" smtClean="0">
                <a:solidFill>
                  <a:srgbClr val="C00000"/>
                </a:solidFill>
              </a:rPr>
              <a:t>3</a:t>
            </a:r>
            <a:endParaRPr lang="en-US" sz="4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84" y="1144626"/>
            <a:ext cx="6949568" cy="55991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84" y="2178740"/>
            <a:ext cx="8679883" cy="40560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8784" y="2606496"/>
            <a:ext cx="47361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Calculate the </a:t>
            </a:r>
            <a:r>
              <a:rPr lang="en-US" u="sng" dirty="0">
                <a:solidFill>
                  <a:schemeClr val="accent1">
                    <a:lumMod val="75000"/>
                  </a:schemeClr>
                </a:solidFill>
                <a:latin typeface="Plus Jakarta Sans"/>
                <a:hlinkClick r:id="rId4"/>
              </a:rPr>
              <a:t>area of the triangle</a:t>
            </a:r>
            <a:r>
              <a:rPr lang="en-US" dirty="0">
                <a:solidFill>
                  <a:srgbClr val="222222"/>
                </a:solidFill>
                <a:latin typeface="Plus Jakarta Sans"/>
              </a:rPr>
              <a:t>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784" y="3828329"/>
            <a:ext cx="11492439" cy="6090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784" y="5289920"/>
            <a:ext cx="10609508" cy="45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666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858" y="1618989"/>
            <a:ext cx="6414125" cy="508161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20602" y="332654"/>
            <a:ext cx="665063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  <a:latin typeface="Soleil"/>
              </a:rPr>
              <a:t>PROPERTIES That Relate The Cross Product And The Dot Product</a:t>
            </a:r>
            <a:endParaRPr 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89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4902"/>
            <a:ext cx="12192000" cy="5861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945" y="1652500"/>
            <a:ext cx="4180342" cy="35659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475" y="1849038"/>
            <a:ext cx="2437267" cy="7328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475" y="2919081"/>
            <a:ext cx="3147020" cy="6645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475" y="3939947"/>
            <a:ext cx="3154931" cy="1696199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7460341" y="2540000"/>
            <a:ext cx="0" cy="222282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775020" y="68921"/>
            <a:ext cx="246035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C00000"/>
                </a:solidFill>
              </a:rPr>
              <a:t>Example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sz="4400" dirty="0">
                <a:solidFill>
                  <a:srgbClr val="C00000"/>
                </a:solidFill>
              </a:rPr>
              <a:t>8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070897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242</Words>
  <Application>Microsoft Office PowerPoint</Application>
  <PresentationFormat>Widescreen</PresentationFormat>
  <Paragraphs>44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</vt:lpstr>
      <vt:lpstr>Plus Jakarta Sans</vt:lpstr>
      <vt:lpstr>Soleil</vt:lpstr>
      <vt:lpstr>Verdana</vt:lpstr>
      <vt:lpstr>Office Theme</vt:lpstr>
      <vt:lpstr>Vectors</vt:lpstr>
      <vt:lpstr>Directed line segment</vt:lpstr>
      <vt:lpstr>Addition of Vectors</vt:lpstr>
      <vt:lpstr>The Parallelogram Method</vt:lpstr>
      <vt:lpstr>Example</vt:lpstr>
      <vt:lpstr>Example 2</vt:lpstr>
      <vt:lpstr>Subtraction of Vectors</vt:lpstr>
      <vt:lpstr>Example 3</vt:lpstr>
      <vt:lpstr>Multiplication of a Vector by a Scalar</vt:lpstr>
      <vt:lpstr>Example 4</vt:lpstr>
      <vt:lpstr>Parallel Vectors</vt:lpstr>
      <vt:lpstr>PowerPoint Presentation</vt:lpstr>
      <vt:lpstr>Position Vector</vt:lpstr>
      <vt:lpstr>PowerPoint Presentation</vt:lpstr>
      <vt:lpstr>PowerPoint Presentation</vt:lpstr>
      <vt:lpstr>Multiplication of a Vector by a Scalar</vt:lpstr>
      <vt:lpstr>Parallel Vectors</vt:lpstr>
      <vt:lpstr>Linear Combination of Vectors ( optional)</vt:lpstr>
      <vt:lpstr>DOT PRODUCT (Scalar Product)</vt:lpstr>
      <vt:lpstr>Angle Between Two Vectors</vt:lpstr>
      <vt:lpstr>PowerPoint Presentation</vt:lpstr>
      <vt:lpstr>PowerPoint Presentation</vt:lpstr>
      <vt:lpstr>PowerPoint Presentation</vt:lpstr>
      <vt:lpstr>Vector ( cross) product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30</cp:revision>
  <dcterms:created xsi:type="dcterms:W3CDTF">2022-09-27T06:37:05Z</dcterms:created>
  <dcterms:modified xsi:type="dcterms:W3CDTF">2022-10-05T22:10:05Z</dcterms:modified>
</cp:coreProperties>
</file>